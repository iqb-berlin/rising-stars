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EDFF"/>
    <a:srgbClr val="FEE4CE"/>
    <a:srgbClr val="F8FAA8"/>
    <a:srgbClr val="F2F2F2"/>
    <a:srgbClr val="000000"/>
    <a:srgbClr val="A6A6A6"/>
    <a:srgbClr val="FB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7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08390-CCEC-446D-91C7-E99FE56AD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4C424D-AC62-4681-A34A-1BAFC755A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BCFF97-C9C3-4F86-8124-F3980FAE5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83E072-4114-46D6-88B1-D7550684F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C1B465-10C5-4A58-AEA0-BDB7D014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27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11F61-2190-41ED-9AC6-337BB3DD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3C5C77-7CA0-4E97-91BC-1A7611CB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33F3D4-8268-4A3E-97C5-FBA469C8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A011EF-1AAA-4F2E-9A96-56DD6D9E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4F4398-738D-49C1-AA2B-9077669F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6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DDFFBC-45D4-46E1-A7DC-D151B83C8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267FCD-0527-4D5D-B8BA-27D7615EF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426E7CC-2C3E-468C-80BF-A604B5A4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AC6513-756D-47F5-A58F-F20D67E0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47FA5A-6103-404F-9AC3-91E151FE9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067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A107C-0C35-4B25-B7E4-163B011D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93CEED-505E-46CC-950A-C78F675B0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0257663-BA30-4AA7-A88D-029F40C9E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6718DF-7D41-4E4A-B6BD-A4D87B76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39E819-1189-41BB-8899-1714EE96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3BF5F7-16F5-4AF9-8F9D-81D480A6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077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6821C8-F32B-45A2-A0C1-6448D9B8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8BD6F2-1A13-4827-8BF4-67E04552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91D13B-E75F-4BD6-8281-38A0BB12A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77C834-652B-4FC9-ACCE-B1455F06E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272300-DD5C-4B3A-8EA9-583C52E5A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98129E-64D9-4AAA-9FF5-AD3B7C6B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2CAC136-F75D-46DB-8D41-D3732107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3AED90-B51A-40F5-96E5-BEE55CD6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65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8068AB-6F9B-4994-BEF6-6843B80B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528FFFE-B438-4B2E-81D3-776E72FE9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211910-CA16-4852-B164-3C16D8F6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05775B-4D08-4F37-8739-35FF8877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498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8A6A34-B797-4DA0-A5A5-3CDED3A1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1D8BC6-E26A-4485-A831-E1E6C5D15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E96544-6C4F-4680-A1E1-88A5C830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651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B65993-3BD1-4C97-8841-246413F3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C52A78-6046-4DD2-907B-DA7B2144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119C8CA-2613-4274-903D-8D755BC06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DFEBA-98E5-4EDE-BA24-688B9D20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F42726D-B341-461F-9823-3EF6035B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C023AA-B4D1-414B-ACC3-899779C28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6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15CD9F-32C7-4DC0-B759-1A31BCC35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BA9D58-4BCB-4DF8-8A1F-3FBF99FA4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4DC783-69F7-4AB8-B17F-B539047BB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0BA3C1-159C-4ABE-B46A-B95857ADC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5F8379-B72E-458B-A5FA-8459DE348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9E9DC2-1731-4913-BC3E-D9E55DD4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5771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72D8F1-7F00-4E47-AD92-44D6C524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AB377B-585A-4F06-9C12-A383F011A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FD0D09-09EB-44B4-815A-3A2CBF43B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D82C38-F657-40B2-BA1A-41F94E47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A02627-F7AF-4E31-94E0-33030720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69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696B4CC-384D-4C77-A7AB-271FC1AD3A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E51A2D-2E92-4810-A88F-A2494BA2B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63D55-3708-429E-A3FC-2A0FEDC0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4846F1-C3A9-4607-9E0A-7D1F21A7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0118DD-8DD4-4DAE-8656-B21E7ACE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15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56C1C02-150B-4003-B621-C5DDBE4C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A21257-F220-4216-A1E5-F2745B64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A41318-3E1C-4842-A46D-525AC919E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CF0D0-C208-455E-A162-EDCE16C99048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73778F-9DAC-4FC3-81CA-EF04E39F8A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262E8E-0F44-4BB9-B4DF-CFE6701DC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ACFD4-D3EA-41C4-8362-B9E7E33A1E8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7261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37E1BB1E-13CD-46E8-B044-58FAB8208B27}"/>
              </a:ext>
            </a:extLst>
          </p:cNvPr>
          <p:cNvSpPr/>
          <p:nvPr/>
        </p:nvSpPr>
        <p:spPr>
          <a:xfrm>
            <a:off x="1896538" y="1411259"/>
            <a:ext cx="2787668" cy="337078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CodingService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B47DBED-1EC0-4E07-88EC-51250F7F308F}"/>
              </a:ext>
            </a:extLst>
          </p:cNvPr>
          <p:cNvSpPr/>
          <p:nvPr/>
        </p:nvSpPr>
        <p:spPr>
          <a:xfrm>
            <a:off x="1896538" y="157571"/>
            <a:ext cx="2787668" cy="111686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Testcenter</a:t>
            </a: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BB21E9E-A795-41D0-9188-88542226CDBF}"/>
              </a:ext>
            </a:extLst>
          </p:cNvPr>
          <p:cNvSpPr/>
          <p:nvPr/>
        </p:nvSpPr>
        <p:spPr>
          <a:xfrm>
            <a:off x="169334" y="159459"/>
            <a:ext cx="1532476" cy="6572649"/>
          </a:xfrm>
          <a:prstGeom prst="rect">
            <a:avLst/>
          </a:prstGeom>
          <a:solidFill>
            <a:srgbClr val="B9E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1400">
                <a:solidFill>
                  <a:schemeClr val="tx1"/>
                </a:solidFill>
              </a:rPr>
              <a:t>Content Package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7FF5DB5-72CC-45A8-B2A6-D5BBCF37094E}"/>
              </a:ext>
            </a:extLst>
          </p:cNvPr>
          <p:cNvSpPr/>
          <p:nvPr/>
        </p:nvSpPr>
        <p:spPr>
          <a:xfrm>
            <a:off x="2015072" y="644956"/>
            <a:ext cx="2463793" cy="374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Antworten: rot, grün, blau, gelb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10520FE-D128-4275-A6F4-C9D238B0805D}"/>
              </a:ext>
            </a:extLst>
          </p:cNvPr>
          <p:cNvSpPr/>
          <p:nvPr/>
        </p:nvSpPr>
        <p:spPr>
          <a:xfrm>
            <a:off x="2015072" y="1952663"/>
            <a:ext cx="2463793" cy="374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Kodierte Antworten: 1,2,3,4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CE6D689-B049-4EE1-8F05-DA498D6856B8}"/>
              </a:ext>
            </a:extLst>
          </p:cNvPr>
          <p:cNvSpPr/>
          <p:nvPr/>
        </p:nvSpPr>
        <p:spPr>
          <a:xfrm>
            <a:off x="2015072" y="2549224"/>
            <a:ext cx="2463794" cy="3745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Bewertete Antworten: -99,0,1,2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08AA736-274B-49DB-A24A-0A76FD81BFAE}"/>
              </a:ext>
            </a:extLst>
          </p:cNvPr>
          <p:cNvSpPr/>
          <p:nvPr/>
        </p:nvSpPr>
        <p:spPr>
          <a:xfrm>
            <a:off x="313271" y="2224293"/>
            <a:ext cx="1261530" cy="3799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Kodierschema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AC65D50-164F-4F84-BF17-FBACB0363264}"/>
              </a:ext>
            </a:extLst>
          </p:cNvPr>
          <p:cNvSpPr/>
          <p:nvPr/>
        </p:nvSpPr>
        <p:spPr>
          <a:xfrm>
            <a:off x="2015072" y="3340529"/>
            <a:ext cx="2463795" cy="12194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200"/>
              <a:t>Fähigkeitswerte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Score-Summe der Items absolut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Score-Summe der Items relativ 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Metrik (z. B. Bista WLE)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/>
              <a:t>Kategorie (Ordinale Skala als Norm, z. B. Kompetenzstufe)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DECAFE0-4C05-47F5-8274-BFB536097D1F}"/>
              </a:ext>
            </a:extLst>
          </p:cNvPr>
          <p:cNvSpPr/>
          <p:nvPr/>
        </p:nvSpPr>
        <p:spPr>
          <a:xfrm>
            <a:off x="313271" y="3760286"/>
            <a:ext cx="1261530" cy="3799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Skalendefinition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3A992C3-E1F7-4201-9C1A-C18530C4E0BF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1574801" y="3950275"/>
            <a:ext cx="4402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C0E6692-7A8C-4D0E-8CDC-9C70298A796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3246969" y="1019534"/>
            <a:ext cx="0" cy="9331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22A6061-65A0-47B6-B30D-C6026B6F1E9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3246969" y="2327241"/>
            <a:ext cx="0" cy="2219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1CFD2327-EC75-4822-B26A-31F27FFF33F2}"/>
              </a:ext>
            </a:extLst>
          </p:cNvPr>
          <p:cNvCxnSpPr>
            <a:cxnSpLocks/>
          </p:cNvCxnSpPr>
          <p:nvPr/>
        </p:nvCxnSpPr>
        <p:spPr>
          <a:xfrm>
            <a:off x="3246969" y="2923802"/>
            <a:ext cx="1" cy="4167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hteck 56">
            <a:extLst>
              <a:ext uri="{FF2B5EF4-FFF2-40B4-BE49-F238E27FC236}">
                <a16:creationId xmlns:a16="http://schemas.microsoft.com/office/drawing/2014/main" id="{ADEEFB9D-32BB-41EC-869E-BFDA9212BC62}"/>
              </a:ext>
            </a:extLst>
          </p:cNvPr>
          <p:cNvSpPr/>
          <p:nvPr/>
        </p:nvSpPr>
        <p:spPr>
          <a:xfrm>
            <a:off x="313271" y="642257"/>
            <a:ext cx="1261530" cy="3799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/>
              <a:t>Testhefte</a:t>
            </a: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CADE6865-77AD-4ED3-A62D-51DD723425C3}"/>
              </a:ext>
            </a:extLst>
          </p:cNvPr>
          <p:cNvCxnSpPr>
            <a:cxnSpLocks/>
            <a:stCxn id="57" idx="3"/>
            <a:endCxn id="6" idx="1"/>
          </p:cNvCxnSpPr>
          <p:nvPr/>
        </p:nvCxnSpPr>
        <p:spPr>
          <a:xfrm flipV="1">
            <a:off x="1574801" y="832245"/>
            <a:ext cx="44027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Verbinder: gewinkelt 179">
            <a:extLst>
              <a:ext uri="{FF2B5EF4-FFF2-40B4-BE49-F238E27FC236}">
                <a16:creationId xmlns:a16="http://schemas.microsoft.com/office/drawing/2014/main" id="{0007F178-EE28-4863-AC8B-EC6328EE38B5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1574801" y="2139952"/>
            <a:ext cx="440271" cy="27433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Verbinder: gewinkelt 182">
            <a:extLst>
              <a:ext uri="{FF2B5EF4-FFF2-40B4-BE49-F238E27FC236}">
                <a16:creationId xmlns:a16="http://schemas.microsoft.com/office/drawing/2014/main" id="{70EB757D-74C7-4296-B44C-8255D7664F3C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1574801" y="2414282"/>
            <a:ext cx="440271" cy="32223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DCDC163-C8E3-4C71-A3F0-FDE600DD5168}"/>
              </a:ext>
            </a:extLst>
          </p:cNvPr>
          <p:cNvGrpSpPr/>
          <p:nvPr/>
        </p:nvGrpSpPr>
        <p:grpSpPr>
          <a:xfrm>
            <a:off x="4478865" y="159459"/>
            <a:ext cx="7552271" cy="4761413"/>
            <a:chOff x="4478865" y="159459"/>
            <a:chExt cx="7552271" cy="4761413"/>
          </a:xfrm>
        </p:grpSpPr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801E658E-8386-4EDD-8D65-5F2CED6D749A}"/>
                </a:ext>
              </a:extLst>
            </p:cNvPr>
            <p:cNvSpPr/>
            <p:nvPr/>
          </p:nvSpPr>
          <p:spPr>
            <a:xfrm>
              <a:off x="5046147" y="1423902"/>
              <a:ext cx="6984989" cy="349697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1400">
                  <a:solidFill>
                    <a:schemeClr val="tx1"/>
                  </a:solidFill>
                </a:rPr>
                <a:t>Rückmeldung	</a:t>
              </a:r>
            </a:p>
          </p:txBody>
        </p:sp>
        <p:sp>
          <p:nvSpPr>
            <p:cNvPr id="144" name="Rechteck 143">
              <a:extLst>
                <a:ext uri="{FF2B5EF4-FFF2-40B4-BE49-F238E27FC236}">
                  <a16:creationId xmlns:a16="http://schemas.microsoft.com/office/drawing/2014/main" id="{F0D35CF8-93DB-460A-AEE1-04CE2D834731}"/>
                </a:ext>
              </a:extLst>
            </p:cNvPr>
            <p:cNvSpPr/>
            <p:nvPr/>
          </p:nvSpPr>
          <p:spPr>
            <a:xfrm>
              <a:off x="5046146" y="159459"/>
              <a:ext cx="6984990" cy="1128146"/>
            </a:xfrm>
            <a:prstGeom prst="rect">
              <a:avLst/>
            </a:prstGeom>
            <a:solidFill>
              <a:srgbClr val="F8F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sz="1400">
                  <a:solidFill>
                    <a:schemeClr val="tx1"/>
                  </a:solidFill>
                </a:rPr>
                <a:t>Länderseitige Daten und Konfiguration</a:t>
              </a: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5F2F1AB-950A-4D4F-8FF3-AB46788808C5}"/>
                </a:ext>
              </a:extLst>
            </p:cNvPr>
            <p:cNvSpPr/>
            <p:nvPr/>
          </p:nvSpPr>
          <p:spPr>
            <a:xfrm>
              <a:off x="5151966" y="1765428"/>
              <a:ext cx="1261530" cy="27259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>
                  <a:solidFill>
                    <a:schemeClr val="tx1"/>
                  </a:solidFill>
                </a:rPr>
                <a:t>Einzelperson</a:t>
              </a: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D772FE51-8150-417B-A370-D314101919B2}"/>
                </a:ext>
              </a:extLst>
            </p:cNvPr>
            <p:cNvSpPr/>
            <p:nvPr/>
          </p:nvSpPr>
          <p:spPr>
            <a:xfrm>
              <a:off x="5151966" y="775885"/>
              <a:ext cx="1261530" cy="3838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Metadaten Person</a:t>
              </a:r>
            </a:p>
          </p:txBody>
        </p:sp>
        <p:cxnSp>
          <p:nvCxnSpPr>
            <p:cNvPr id="65" name="Gerade Verbindung mit Pfeil 64">
              <a:extLst>
                <a:ext uri="{FF2B5EF4-FFF2-40B4-BE49-F238E27FC236}">
                  <a16:creationId xmlns:a16="http://schemas.microsoft.com/office/drawing/2014/main" id="{98959A32-8C29-4091-9EF2-34245CAC28E7}"/>
                </a:ext>
              </a:extLst>
            </p:cNvPr>
            <p:cNvCxnSpPr>
              <a:cxnSpLocks/>
              <a:stCxn id="62" idx="2"/>
              <a:endCxn id="20" idx="0"/>
            </p:cNvCxnSpPr>
            <p:nvPr/>
          </p:nvCxnSpPr>
          <p:spPr>
            <a:xfrm>
              <a:off x="5782731" y="1159701"/>
              <a:ext cx="0" cy="6057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Verbinder: gewinkelt 102">
              <a:extLst>
                <a:ext uri="{FF2B5EF4-FFF2-40B4-BE49-F238E27FC236}">
                  <a16:creationId xmlns:a16="http://schemas.microsoft.com/office/drawing/2014/main" id="{0F729272-503A-4788-8561-DACB89B72E29}"/>
                </a:ext>
              </a:extLst>
            </p:cNvPr>
            <p:cNvCxnSpPr>
              <a:cxnSpLocks/>
              <a:stCxn id="6" idx="3"/>
              <a:endCxn id="15" idx="1"/>
            </p:cNvCxnSpPr>
            <p:nvPr/>
          </p:nvCxnSpPr>
          <p:spPr>
            <a:xfrm>
              <a:off x="4478865" y="832245"/>
              <a:ext cx="673101" cy="1590699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Verbinder: gewinkelt 104">
              <a:extLst>
                <a:ext uri="{FF2B5EF4-FFF2-40B4-BE49-F238E27FC236}">
                  <a16:creationId xmlns:a16="http://schemas.microsoft.com/office/drawing/2014/main" id="{D02C994E-3529-44A1-BE56-28B2495CC6A1}"/>
                </a:ext>
              </a:extLst>
            </p:cNvPr>
            <p:cNvCxnSpPr>
              <a:cxnSpLocks/>
              <a:stCxn id="10" idx="3"/>
              <a:endCxn id="88" idx="1"/>
            </p:cNvCxnSpPr>
            <p:nvPr/>
          </p:nvCxnSpPr>
          <p:spPr>
            <a:xfrm flipV="1">
              <a:off x="4478867" y="3093522"/>
              <a:ext cx="673099" cy="856753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hteck 87">
              <a:extLst>
                <a:ext uri="{FF2B5EF4-FFF2-40B4-BE49-F238E27FC236}">
                  <a16:creationId xmlns:a16="http://schemas.microsoft.com/office/drawing/2014/main" id="{A363A01C-EECA-4644-B54C-475EFCBA7714}"/>
                </a:ext>
              </a:extLst>
            </p:cNvPr>
            <p:cNvSpPr/>
            <p:nvPr/>
          </p:nvSpPr>
          <p:spPr>
            <a:xfrm>
              <a:off x="5151966" y="2851379"/>
              <a:ext cx="1697559" cy="484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Items: Richtig/Falsch-Summen</a:t>
              </a:r>
            </a:p>
          </p:txBody>
        </p: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01631D5C-8681-4913-8256-C8271F9230BB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5782731" y="2038025"/>
              <a:ext cx="0" cy="813354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97EA9231-7B79-4845-9095-4C8D52396681}"/>
                </a:ext>
              </a:extLst>
            </p:cNvPr>
            <p:cNvSpPr/>
            <p:nvPr/>
          </p:nvSpPr>
          <p:spPr>
            <a:xfrm>
              <a:off x="5151966" y="2180801"/>
              <a:ext cx="1697559" cy="48428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Aufgabe: Antworten</a:t>
              </a:r>
              <a:br>
                <a:rPr lang="de-DE" sz="1200"/>
              </a:br>
              <a:r>
                <a:rPr lang="de-DE" sz="1200"/>
                <a:t>darstellen</a:t>
              </a:r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B27328C-CE83-4EC7-98F2-E96CAE5C7252}"/>
              </a:ext>
            </a:extLst>
          </p:cNvPr>
          <p:cNvGrpSpPr/>
          <p:nvPr/>
        </p:nvGrpSpPr>
        <p:grpSpPr>
          <a:xfrm>
            <a:off x="4478867" y="316300"/>
            <a:ext cx="6083315" cy="4524068"/>
            <a:chOff x="4478867" y="316300"/>
            <a:chExt cx="6083315" cy="4524068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5A6F7F3E-99CF-4759-A2E9-9D84E776CA26}"/>
                </a:ext>
              </a:extLst>
            </p:cNvPr>
            <p:cNvSpPr/>
            <p:nvPr/>
          </p:nvSpPr>
          <p:spPr>
            <a:xfrm>
              <a:off x="7954447" y="1765427"/>
              <a:ext cx="1261530" cy="27259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>
                  <a:solidFill>
                    <a:schemeClr val="tx1"/>
                  </a:solidFill>
                </a:rPr>
                <a:t>Gruppe</a:t>
              </a:r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C4C64F05-0754-4C72-90AF-163C539D6802}"/>
                </a:ext>
              </a:extLst>
            </p:cNvPr>
            <p:cNvSpPr/>
            <p:nvPr/>
          </p:nvSpPr>
          <p:spPr>
            <a:xfrm>
              <a:off x="6502402" y="1629128"/>
              <a:ext cx="1363135" cy="2725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100">
                  <a:solidFill>
                    <a:schemeClr val="tx1"/>
                  </a:solidFill>
                </a:rPr>
                <a:t>Aggregation</a:t>
              </a:r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C2269738-B96A-4980-BC54-C72CD513A715}"/>
                </a:ext>
              </a:extLst>
            </p:cNvPr>
            <p:cNvSpPr/>
            <p:nvPr/>
          </p:nvSpPr>
          <p:spPr>
            <a:xfrm>
              <a:off x="5151966" y="3478337"/>
              <a:ext cx="4064010" cy="13620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de-DE" sz="1200"/>
                <a:t>Fähigkeitswerte berichten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Filtern/Sortieren nach Metadaten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Filtern/Sortieren nach Subgruppen und Gruppen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Vergleich mit Vorjahreswerten (ipsativer Vergleich)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Soziale Vergleiche (andere Gruppen)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200"/>
                <a:t>In geringem Maße neue Indikatoren ableiten (z. B. Heterogenität)</a:t>
              </a:r>
            </a:p>
          </p:txBody>
        </p: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9E7697E6-5DD5-45FA-AAE1-75429922F75D}"/>
                </a:ext>
              </a:extLst>
            </p:cNvPr>
            <p:cNvCxnSpPr>
              <a:cxnSpLocks/>
              <a:stCxn id="78" idx="2"/>
              <a:endCxn id="89" idx="0"/>
            </p:cNvCxnSpPr>
            <p:nvPr/>
          </p:nvCxnSpPr>
          <p:spPr>
            <a:xfrm>
              <a:off x="7183970" y="1901725"/>
              <a:ext cx="1" cy="1576612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C78EF065-BA6F-4D1D-8B1B-54082DA2796A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 flipH="1">
              <a:off x="8585211" y="2038024"/>
              <a:ext cx="1" cy="1440314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4EE8E9AD-C699-4428-9F6E-BC98B7A27F07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6413496" y="1901726"/>
              <a:ext cx="1540951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 Verbindung mit Pfeil 115">
              <a:extLst>
                <a:ext uri="{FF2B5EF4-FFF2-40B4-BE49-F238E27FC236}">
                  <a16:creationId xmlns:a16="http://schemas.microsoft.com/office/drawing/2014/main" id="{2280C7B6-F2C5-423D-86EF-D4D986AD1D86}"/>
                </a:ext>
              </a:extLst>
            </p:cNvPr>
            <p:cNvCxnSpPr>
              <a:cxnSpLocks/>
            </p:cNvCxnSpPr>
            <p:nvPr/>
          </p:nvCxnSpPr>
          <p:spPr>
            <a:xfrm>
              <a:off x="5782731" y="3335664"/>
              <a:ext cx="0" cy="142674"/>
            </a:xfrm>
            <a:prstGeom prst="straightConnector1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Verbinder: gewinkelt 227">
              <a:extLst>
                <a:ext uri="{FF2B5EF4-FFF2-40B4-BE49-F238E27FC236}">
                  <a16:creationId xmlns:a16="http://schemas.microsoft.com/office/drawing/2014/main" id="{763A2658-34F8-4344-A8E0-52FA0B0322E9}"/>
                </a:ext>
              </a:extLst>
            </p:cNvPr>
            <p:cNvCxnSpPr>
              <a:cxnSpLocks/>
              <a:stCxn id="10" idx="3"/>
              <a:endCxn id="89" idx="1"/>
            </p:cNvCxnSpPr>
            <p:nvPr/>
          </p:nvCxnSpPr>
          <p:spPr>
            <a:xfrm>
              <a:off x="4478867" y="3950275"/>
              <a:ext cx="673099" cy="20907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4A5175F6-A159-4875-850A-A35C56427361}"/>
                </a:ext>
              </a:extLst>
            </p:cNvPr>
            <p:cNvSpPr/>
            <p:nvPr/>
          </p:nvSpPr>
          <p:spPr>
            <a:xfrm>
              <a:off x="7954446" y="773160"/>
              <a:ext cx="1261530" cy="3838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Metadaten Gruppe</a:t>
              </a:r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5B8D903E-4F00-40E4-9593-28C41CE1FF38}"/>
                </a:ext>
              </a:extLst>
            </p:cNvPr>
            <p:cNvSpPr/>
            <p:nvPr/>
          </p:nvSpPr>
          <p:spPr>
            <a:xfrm>
              <a:off x="6502403" y="775885"/>
              <a:ext cx="1363136" cy="3838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Gruppendefinition</a:t>
              </a:r>
            </a:p>
            <a:p>
              <a:pPr algn="ctr"/>
              <a:r>
                <a:rPr lang="de-DE" sz="1200"/>
                <a:t>Person </a:t>
              </a:r>
              <a:r>
                <a:rPr lang="de-DE" sz="1200">
                  <a:sym typeface="Wingdings" panose="05000000000000000000" pitchFamily="2" charset="2"/>
                </a:rPr>
                <a:t></a:t>
              </a:r>
              <a:r>
                <a:rPr lang="de-DE" sz="1200"/>
                <a:t> Gruppe</a:t>
              </a:r>
            </a:p>
          </p:txBody>
        </p:sp>
        <p:cxnSp>
          <p:nvCxnSpPr>
            <p:cNvPr id="75" name="Gerade Verbindung mit Pfeil 74">
              <a:extLst>
                <a:ext uri="{FF2B5EF4-FFF2-40B4-BE49-F238E27FC236}">
                  <a16:creationId xmlns:a16="http://schemas.microsoft.com/office/drawing/2014/main" id="{9AAA8437-CB7B-4C33-90C7-F60F82B24760}"/>
                </a:ext>
              </a:extLst>
            </p:cNvPr>
            <p:cNvCxnSpPr>
              <a:cxnSpLocks/>
              <a:stCxn id="64" idx="2"/>
              <a:endCxn id="78" idx="0"/>
            </p:cNvCxnSpPr>
            <p:nvPr/>
          </p:nvCxnSpPr>
          <p:spPr>
            <a:xfrm flipH="1">
              <a:off x="7183970" y="1159701"/>
              <a:ext cx="1" cy="4694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1A7778AE-C9E6-437B-A9BF-019059E682AE}"/>
                </a:ext>
              </a:extLst>
            </p:cNvPr>
            <p:cNvCxnSpPr>
              <a:cxnSpLocks/>
              <a:stCxn id="63" idx="2"/>
              <a:endCxn id="21" idx="0"/>
            </p:cNvCxnSpPr>
            <p:nvPr/>
          </p:nvCxnSpPr>
          <p:spPr>
            <a:xfrm>
              <a:off x="8585211" y="1156975"/>
              <a:ext cx="1" cy="60845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Rechteck 163">
              <a:extLst>
                <a:ext uri="{FF2B5EF4-FFF2-40B4-BE49-F238E27FC236}">
                  <a16:creationId xmlns:a16="http://schemas.microsoft.com/office/drawing/2014/main" id="{D9E18D6B-979B-4241-8642-62223B36ED3A}"/>
                </a:ext>
              </a:extLst>
            </p:cNvPr>
            <p:cNvSpPr/>
            <p:nvPr/>
          </p:nvSpPr>
          <p:spPr>
            <a:xfrm>
              <a:off x="8900607" y="316300"/>
              <a:ext cx="1261530" cy="3838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Vergleichsdaten</a:t>
              </a:r>
            </a:p>
          </p:txBody>
        </p:sp>
        <p:cxnSp>
          <p:nvCxnSpPr>
            <p:cNvPr id="157" name="Verbinder: gewinkelt 156">
              <a:extLst>
                <a:ext uri="{FF2B5EF4-FFF2-40B4-BE49-F238E27FC236}">
                  <a16:creationId xmlns:a16="http://schemas.microsoft.com/office/drawing/2014/main" id="{4D79A9C9-5035-4FD1-84E5-0D67770EF8FA}"/>
                </a:ext>
              </a:extLst>
            </p:cNvPr>
            <p:cNvCxnSpPr>
              <a:cxnSpLocks/>
              <a:stCxn id="22" idx="2"/>
              <a:endCxn id="89" idx="3"/>
            </p:cNvCxnSpPr>
            <p:nvPr/>
          </p:nvCxnSpPr>
          <p:spPr>
            <a:xfrm rot="5400000">
              <a:off x="8078209" y="2306144"/>
              <a:ext cx="2990977" cy="715441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Verbinder: gewinkelt 164">
              <a:extLst>
                <a:ext uri="{FF2B5EF4-FFF2-40B4-BE49-F238E27FC236}">
                  <a16:creationId xmlns:a16="http://schemas.microsoft.com/office/drawing/2014/main" id="{1C0FDE29-97DD-4DD6-B23D-6F1E76C4E43C}"/>
                </a:ext>
              </a:extLst>
            </p:cNvPr>
            <p:cNvCxnSpPr>
              <a:cxnSpLocks/>
              <a:stCxn id="164" idx="2"/>
              <a:endCxn id="89" idx="3"/>
            </p:cNvCxnSpPr>
            <p:nvPr/>
          </p:nvCxnSpPr>
          <p:spPr>
            <a:xfrm rot="5400000">
              <a:off x="7644055" y="2272036"/>
              <a:ext cx="3459238" cy="315396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73B8345D-2614-42C9-BD29-1BF7FB9BACD3}"/>
                </a:ext>
              </a:extLst>
            </p:cNvPr>
            <p:cNvSpPr/>
            <p:nvPr/>
          </p:nvSpPr>
          <p:spPr>
            <a:xfrm>
              <a:off x="9300652" y="784561"/>
              <a:ext cx="1261530" cy="3838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Daten anderer Messzeitpunkte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C0E7047-66C6-416C-97C7-40BC1370FE7A}"/>
              </a:ext>
            </a:extLst>
          </p:cNvPr>
          <p:cNvGrpSpPr/>
          <p:nvPr/>
        </p:nvGrpSpPr>
        <p:grpSpPr>
          <a:xfrm>
            <a:off x="304807" y="767023"/>
            <a:ext cx="11717859" cy="5965085"/>
            <a:chOff x="304807" y="767023"/>
            <a:chExt cx="11717859" cy="5965085"/>
          </a:xfrm>
        </p:grpSpPr>
        <p:sp>
          <p:nvSpPr>
            <p:cNvPr id="200" name="Rechteck 199">
              <a:extLst>
                <a:ext uri="{FF2B5EF4-FFF2-40B4-BE49-F238E27FC236}">
                  <a16:creationId xmlns:a16="http://schemas.microsoft.com/office/drawing/2014/main" id="{E4D508EF-1A3B-491C-8A11-2794414A6FCB}"/>
                </a:ext>
              </a:extLst>
            </p:cNvPr>
            <p:cNvSpPr/>
            <p:nvPr/>
          </p:nvSpPr>
          <p:spPr>
            <a:xfrm>
              <a:off x="5046145" y="4975299"/>
              <a:ext cx="6976521" cy="1756809"/>
            </a:xfrm>
            <a:prstGeom prst="rect">
              <a:avLst/>
            </a:prstGeom>
            <a:solidFill>
              <a:schemeClr val="bg2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de-DE" sz="1400">
                  <a:solidFill>
                    <a:schemeClr val="tx1"/>
                  </a:solidFill>
                </a:rPr>
                <a:t>	</a:t>
              </a:r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47599121-9BED-4E4C-9166-E90831D3068B}"/>
                </a:ext>
              </a:extLst>
            </p:cNvPr>
            <p:cNvSpPr/>
            <p:nvPr/>
          </p:nvSpPr>
          <p:spPr>
            <a:xfrm>
              <a:off x="5151967" y="5033062"/>
              <a:ext cx="4064009" cy="2908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Interpretationen (verbal, Icon)</a:t>
              </a:r>
            </a:p>
          </p:txBody>
        </p:sp>
        <p:sp>
          <p:nvSpPr>
            <p:cNvPr id="123" name="Rechteck 122">
              <a:extLst>
                <a:ext uri="{FF2B5EF4-FFF2-40B4-BE49-F238E27FC236}">
                  <a16:creationId xmlns:a16="http://schemas.microsoft.com/office/drawing/2014/main" id="{3CCED2E9-AF8A-4C4C-9485-94C8707ADA0C}"/>
                </a:ext>
              </a:extLst>
            </p:cNvPr>
            <p:cNvSpPr/>
            <p:nvPr/>
          </p:nvSpPr>
          <p:spPr>
            <a:xfrm>
              <a:off x="5151966" y="5520654"/>
              <a:ext cx="4064009" cy="47944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Material zur individuellen Förderung und zur Unterrichtsentwicklung</a:t>
              </a:r>
            </a:p>
          </p:txBody>
        </p:sp>
        <p:sp>
          <p:nvSpPr>
            <p:cNvPr id="124" name="Rechteck 123">
              <a:extLst>
                <a:ext uri="{FF2B5EF4-FFF2-40B4-BE49-F238E27FC236}">
                  <a16:creationId xmlns:a16="http://schemas.microsoft.com/office/drawing/2014/main" id="{DAF1C5B1-ABCE-407B-BE2F-96D6B81979AA}"/>
                </a:ext>
              </a:extLst>
            </p:cNvPr>
            <p:cNvSpPr/>
            <p:nvPr/>
          </p:nvSpPr>
          <p:spPr>
            <a:xfrm>
              <a:off x="304807" y="5006071"/>
              <a:ext cx="1261530" cy="3799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Textbausteine plus Regeln dafür</a:t>
              </a:r>
            </a:p>
          </p:txBody>
        </p: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A0F9E7C4-4FE0-4D54-B20F-AB98B62FECF8}"/>
                </a:ext>
              </a:extLst>
            </p:cNvPr>
            <p:cNvCxnSpPr>
              <a:cxnSpLocks/>
              <a:stCxn id="124" idx="3"/>
              <a:endCxn id="122" idx="1"/>
            </p:cNvCxnSpPr>
            <p:nvPr/>
          </p:nvCxnSpPr>
          <p:spPr>
            <a:xfrm flipV="1">
              <a:off x="1566337" y="5178476"/>
              <a:ext cx="3585630" cy="17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32401B1D-5D8E-4240-A35A-4257927B9E05}"/>
                </a:ext>
              </a:extLst>
            </p:cNvPr>
            <p:cNvSpPr/>
            <p:nvPr/>
          </p:nvSpPr>
          <p:spPr>
            <a:xfrm>
              <a:off x="321735" y="5558524"/>
              <a:ext cx="1261530" cy="3799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Material plus Regeln dafür</a:t>
              </a:r>
            </a:p>
          </p:txBody>
        </p: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1A573617-0977-49BC-8B54-F81AE6EAAB17}"/>
                </a:ext>
              </a:extLst>
            </p:cNvPr>
            <p:cNvCxnSpPr>
              <a:cxnSpLocks/>
              <a:stCxn id="126" idx="3"/>
              <a:endCxn id="123" idx="1"/>
            </p:cNvCxnSpPr>
            <p:nvPr/>
          </p:nvCxnSpPr>
          <p:spPr>
            <a:xfrm>
              <a:off x="1583265" y="5748513"/>
              <a:ext cx="3568701" cy="118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 Verbindung mit Pfeil 131">
              <a:extLst>
                <a:ext uri="{FF2B5EF4-FFF2-40B4-BE49-F238E27FC236}">
                  <a16:creationId xmlns:a16="http://schemas.microsoft.com/office/drawing/2014/main" id="{852AC2BF-C93B-4EF9-86AC-D0E02FD96601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12" y="4840368"/>
              <a:ext cx="0" cy="192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5ED5530E-9046-478A-8E2A-AD603B6E7291}"/>
                </a:ext>
              </a:extLst>
            </p:cNvPr>
            <p:cNvCxnSpPr>
              <a:cxnSpLocks/>
            </p:cNvCxnSpPr>
            <p:nvPr/>
          </p:nvCxnSpPr>
          <p:spPr>
            <a:xfrm>
              <a:off x="5782731" y="4840368"/>
              <a:ext cx="0" cy="1926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Gerade Verbindung mit Pfeil 147">
              <a:extLst>
                <a:ext uri="{FF2B5EF4-FFF2-40B4-BE49-F238E27FC236}">
                  <a16:creationId xmlns:a16="http://schemas.microsoft.com/office/drawing/2014/main" id="{46179A53-ABC9-4AC7-8A0E-0B30A790B617}"/>
                </a:ext>
              </a:extLst>
            </p:cNvPr>
            <p:cNvCxnSpPr>
              <a:cxnSpLocks/>
            </p:cNvCxnSpPr>
            <p:nvPr/>
          </p:nvCxnSpPr>
          <p:spPr>
            <a:xfrm>
              <a:off x="8572512" y="5323890"/>
              <a:ext cx="0" cy="1879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Gerade Verbindung mit Pfeil 151">
              <a:extLst>
                <a:ext uri="{FF2B5EF4-FFF2-40B4-BE49-F238E27FC236}">
                  <a16:creationId xmlns:a16="http://schemas.microsoft.com/office/drawing/2014/main" id="{080676AD-4156-4EE2-B04C-821145435252}"/>
                </a:ext>
              </a:extLst>
            </p:cNvPr>
            <p:cNvCxnSpPr>
              <a:cxnSpLocks/>
            </p:cNvCxnSpPr>
            <p:nvPr/>
          </p:nvCxnSpPr>
          <p:spPr>
            <a:xfrm>
              <a:off x="5782731" y="5323890"/>
              <a:ext cx="0" cy="1879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Verbinder: gewinkelt 160">
              <a:extLst>
                <a:ext uri="{FF2B5EF4-FFF2-40B4-BE49-F238E27FC236}">
                  <a16:creationId xmlns:a16="http://schemas.microsoft.com/office/drawing/2014/main" id="{5525D38C-A5E8-44BB-9244-47508831E363}"/>
                </a:ext>
              </a:extLst>
            </p:cNvPr>
            <p:cNvCxnSpPr>
              <a:cxnSpLocks/>
              <a:stCxn id="160" idx="2"/>
              <a:endCxn id="123" idx="3"/>
            </p:cNvCxnSpPr>
            <p:nvPr/>
          </p:nvCxnSpPr>
          <p:spPr>
            <a:xfrm rot="5400000">
              <a:off x="7940112" y="2422863"/>
              <a:ext cx="4613375" cy="206164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echteck 190">
              <a:extLst>
                <a:ext uri="{FF2B5EF4-FFF2-40B4-BE49-F238E27FC236}">
                  <a16:creationId xmlns:a16="http://schemas.microsoft.com/office/drawing/2014/main" id="{A8E1FA90-20FA-4444-878C-D46BCDD78969}"/>
                </a:ext>
              </a:extLst>
            </p:cNvPr>
            <p:cNvSpPr/>
            <p:nvPr/>
          </p:nvSpPr>
          <p:spPr>
            <a:xfrm>
              <a:off x="5151964" y="6154600"/>
              <a:ext cx="4064009" cy="4788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>
                  <a:solidFill>
                    <a:schemeClr val="tx1"/>
                  </a:solidFill>
                </a:rPr>
                <a:t>Warenkorb, Lernpfade, Dashboard</a:t>
              </a:r>
              <a:br>
                <a:rPr lang="de-DE" sz="1200">
                  <a:solidFill>
                    <a:schemeClr val="tx1"/>
                  </a:solidFill>
                </a:rPr>
              </a:br>
              <a:r>
                <a:rPr lang="de-DE" sz="1200">
                  <a:solidFill>
                    <a:schemeClr val="tx1"/>
                  </a:solidFill>
                </a:rPr>
                <a:t>(Zusammenschau mit anderen Erhebungen) …</a:t>
              </a:r>
            </a:p>
          </p:txBody>
        </p:sp>
        <p:cxnSp>
          <p:nvCxnSpPr>
            <p:cNvPr id="192" name="Gerade Verbindung mit Pfeil 191">
              <a:extLst>
                <a:ext uri="{FF2B5EF4-FFF2-40B4-BE49-F238E27FC236}">
                  <a16:creationId xmlns:a16="http://schemas.microsoft.com/office/drawing/2014/main" id="{263AB173-0220-4088-A521-B6D018956FB2}"/>
                </a:ext>
              </a:extLst>
            </p:cNvPr>
            <p:cNvCxnSpPr>
              <a:cxnSpLocks/>
              <a:stCxn id="123" idx="2"/>
              <a:endCxn id="191" idx="0"/>
            </p:cNvCxnSpPr>
            <p:nvPr/>
          </p:nvCxnSpPr>
          <p:spPr>
            <a:xfrm flipH="1">
              <a:off x="7183969" y="6000096"/>
              <a:ext cx="2" cy="1545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32D3AEDE-D9C4-4034-9B77-6A90199EB157}"/>
                </a:ext>
              </a:extLst>
            </p:cNvPr>
            <p:cNvSpPr/>
            <p:nvPr/>
          </p:nvSpPr>
          <p:spPr>
            <a:xfrm>
              <a:off x="10646858" y="767023"/>
              <a:ext cx="1261530" cy="3799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/>
                <a:t>Material</a:t>
              </a:r>
            </a:p>
          </p:txBody>
        </p:sp>
        <p:cxnSp>
          <p:nvCxnSpPr>
            <p:cNvPr id="195" name="Verbinder: gewinkelt 194">
              <a:extLst>
                <a:ext uri="{FF2B5EF4-FFF2-40B4-BE49-F238E27FC236}">
                  <a16:creationId xmlns:a16="http://schemas.microsoft.com/office/drawing/2014/main" id="{5A7B56AF-A030-41E3-A932-07D259269FEE}"/>
                </a:ext>
              </a:extLst>
            </p:cNvPr>
            <p:cNvCxnSpPr>
              <a:cxnSpLocks/>
              <a:stCxn id="160" idx="2"/>
              <a:endCxn id="191" idx="3"/>
            </p:cNvCxnSpPr>
            <p:nvPr/>
          </p:nvCxnSpPr>
          <p:spPr>
            <a:xfrm rot="5400000">
              <a:off x="7623298" y="2739675"/>
              <a:ext cx="5247000" cy="2061650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3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Breitbild</PresentationFormat>
  <Paragraphs>40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 Mechtel</dc:creator>
  <cp:lastModifiedBy>Martin</cp:lastModifiedBy>
  <cp:revision>39</cp:revision>
  <dcterms:created xsi:type="dcterms:W3CDTF">2025-10-08T10:27:11Z</dcterms:created>
  <dcterms:modified xsi:type="dcterms:W3CDTF">2025-11-14T12:56:46Z</dcterms:modified>
</cp:coreProperties>
</file>