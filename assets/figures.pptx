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63" r:id="rId5"/>
    <p:sldId id="259" r:id="rId6"/>
    <p:sldId id="267" r:id="rId7"/>
    <p:sldId id="261" r:id="rId8"/>
    <p:sldId id="262" r:id="rId9"/>
    <p:sldId id="260" r:id="rId10"/>
    <p:sldId id="265" r:id="rId11"/>
    <p:sldId id="266" r:id="rId1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CBA"/>
    <a:srgbClr val="405786"/>
    <a:srgbClr val="7D12B9"/>
    <a:srgbClr val="7D12BA"/>
    <a:srgbClr val="D92FC1"/>
    <a:srgbClr val="2E75B6"/>
    <a:srgbClr val="D6DCE5"/>
    <a:srgbClr val="B400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26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7921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1326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8403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2990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2876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981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976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546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4987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7102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569-5EFF-41A8-B6CB-39864A9A9501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0063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8E2D6-597E-47D2-87A5-57F74AD9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486834"/>
            <a:ext cx="5342083" cy="754737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01990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B6569-5EFF-41A8-B6CB-39864A9A9501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4B71B-71A8-4092-82B0-76673F7CB0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31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BCA66E-2F52-45C2-9912-76CBA2B1C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400" y="2509317"/>
            <a:ext cx="6299200" cy="3310912"/>
          </a:xfrm>
        </p:spPr>
        <p:txBody>
          <a:bodyPr>
            <a:noAutofit/>
          </a:bodyPr>
          <a:lstStyle/>
          <a:p>
            <a:r>
              <a:rPr lang="de-DE" sz="4000">
                <a:latin typeface="Consolas" panose="020B0609020204030204" pitchFamily="49" charset="0"/>
              </a:rPr>
              <a:t>iqb-berlin.github.io/</a:t>
            </a:r>
            <a:br>
              <a:rPr lang="de-DE" sz="4000">
                <a:latin typeface="Consolas" panose="020B0609020204030204" pitchFamily="49" charset="0"/>
              </a:rPr>
            </a:br>
            <a:r>
              <a:rPr lang="de-DE" sz="5400">
                <a:solidFill>
                  <a:srgbClr val="B40036"/>
                </a:solidFill>
                <a:latin typeface="Consolas" panose="020B0609020204030204" pitchFamily="49" charset="0"/>
              </a:rPr>
              <a:t>rising-stars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1D4529E-7050-4378-B76B-AAD0CCF51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400" y="6270170"/>
            <a:ext cx="6299201" cy="899887"/>
          </a:xfrm>
        </p:spPr>
        <p:txBody>
          <a:bodyPr/>
          <a:lstStyle/>
          <a:p>
            <a:r>
              <a:rPr lang="de-DE"/>
              <a:t>Grafische Darstellungen für Quarto-Website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33222F0-B978-446A-ACF0-DC2D72F4E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597" y="445190"/>
            <a:ext cx="1680806" cy="72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114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D01AAD-30D1-4DFB-8F62-36BE63980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/>
              <a:t>intro1.png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2FA06FF-CE17-490A-B4D9-06A09C0BF8D7}"/>
              </a:ext>
            </a:extLst>
          </p:cNvPr>
          <p:cNvSpPr/>
          <p:nvPr/>
        </p:nvSpPr>
        <p:spPr>
          <a:xfrm>
            <a:off x="1400627" y="1718124"/>
            <a:ext cx="1187984" cy="318109"/>
          </a:xfrm>
          <a:prstGeom prst="roundRect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Ziele festlegen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E230F1FC-733B-4031-A846-723866F10F8D}"/>
              </a:ext>
            </a:extLst>
          </p:cNvPr>
          <p:cNvSpPr/>
          <p:nvPr/>
        </p:nvSpPr>
        <p:spPr>
          <a:xfrm>
            <a:off x="1024422" y="3105976"/>
            <a:ext cx="1940394" cy="525735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Test durchführen</a:t>
            </a:r>
          </a:p>
        </p:txBody>
      </p: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CFC464E1-9A47-4D9E-9758-C0A1C3141767}"/>
              </a:ext>
            </a:extLst>
          </p:cNvPr>
          <p:cNvGrpSpPr/>
          <p:nvPr/>
        </p:nvGrpSpPr>
        <p:grpSpPr>
          <a:xfrm>
            <a:off x="186294" y="2312165"/>
            <a:ext cx="3616651" cy="318109"/>
            <a:chOff x="5476395" y="2240107"/>
            <a:chExt cx="4384193" cy="385619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EEF6FF71-514C-4676-8656-6710BEB7C531}"/>
                </a:ext>
              </a:extLst>
            </p:cNvPr>
            <p:cNvSpPr/>
            <p:nvPr/>
          </p:nvSpPr>
          <p:spPr>
            <a:xfrm>
              <a:off x="5476395" y="2240107"/>
              <a:ext cx="2032000" cy="385619"/>
            </a:xfrm>
            <a:prstGeom prst="roundRect">
              <a:avLst/>
            </a:prstGeom>
            <a:solidFill>
              <a:srgbClr val="405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Testinhalte auswählen</a:t>
              </a:r>
            </a:p>
          </p:txBody>
        </p:sp>
        <p:sp>
          <p:nvSpPr>
            <p:cNvPr id="10" name="Rechteck: abgerundete Ecken 9">
              <a:extLst>
                <a:ext uri="{FF2B5EF4-FFF2-40B4-BE49-F238E27FC236}">
                  <a16:creationId xmlns:a16="http://schemas.microsoft.com/office/drawing/2014/main" id="{043F2165-136D-4CFB-8F42-7C40B1C40E71}"/>
                </a:ext>
              </a:extLst>
            </p:cNvPr>
            <p:cNvSpPr/>
            <p:nvPr/>
          </p:nvSpPr>
          <p:spPr>
            <a:xfrm>
              <a:off x="7828588" y="2240107"/>
              <a:ext cx="2032000" cy="385619"/>
            </a:xfrm>
            <a:prstGeom prst="roundRect">
              <a:avLst/>
            </a:prstGeom>
            <a:solidFill>
              <a:srgbClr val="405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Testpersonen festlegen</a:t>
              </a:r>
            </a:p>
          </p:txBody>
        </p:sp>
      </p:grp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7C3DFAC6-65F1-4831-842C-FDBEFC655E15}"/>
              </a:ext>
            </a:extLst>
          </p:cNvPr>
          <p:cNvCxnSpPr>
            <a:cxnSpLocks/>
          </p:cNvCxnSpPr>
          <p:nvPr/>
        </p:nvCxnSpPr>
        <p:spPr>
          <a:xfrm flipH="1">
            <a:off x="1345070" y="2036232"/>
            <a:ext cx="327632" cy="275932"/>
          </a:xfrm>
          <a:prstGeom prst="straightConnector1">
            <a:avLst/>
          </a:prstGeom>
          <a:ln w="28575">
            <a:solidFill>
              <a:srgbClr val="40578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D954FC19-65D7-4FF6-8000-2C8578F74369}"/>
              </a:ext>
            </a:extLst>
          </p:cNvPr>
          <p:cNvCxnSpPr>
            <a:cxnSpLocks/>
          </p:cNvCxnSpPr>
          <p:nvPr/>
        </p:nvCxnSpPr>
        <p:spPr>
          <a:xfrm>
            <a:off x="2251772" y="2036232"/>
            <a:ext cx="293346" cy="265901"/>
          </a:xfrm>
          <a:prstGeom prst="straightConnector1">
            <a:avLst/>
          </a:prstGeom>
          <a:ln w="28575">
            <a:solidFill>
              <a:srgbClr val="40578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F5D73EBC-543B-40E1-A8ED-5E576A912B6E}"/>
              </a:ext>
            </a:extLst>
          </p:cNvPr>
          <p:cNvCxnSpPr>
            <a:cxnSpLocks/>
          </p:cNvCxnSpPr>
          <p:nvPr/>
        </p:nvCxnSpPr>
        <p:spPr>
          <a:xfrm flipH="1">
            <a:off x="2251772" y="2630273"/>
            <a:ext cx="293346" cy="475702"/>
          </a:xfrm>
          <a:prstGeom prst="straightConnector1">
            <a:avLst/>
          </a:prstGeom>
          <a:ln w="28575">
            <a:solidFill>
              <a:srgbClr val="40578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95BB7E91-197A-4D8F-A783-57792062968B}"/>
              </a:ext>
            </a:extLst>
          </p:cNvPr>
          <p:cNvCxnSpPr>
            <a:cxnSpLocks/>
          </p:cNvCxnSpPr>
          <p:nvPr/>
        </p:nvCxnSpPr>
        <p:spPr>
          <a:xfrm>
            <a:off x="1357133" y="2630273"/>
            <a:ext cx="384777" cy="485734"/>
          </a:xfrm>
          <a:prstGeom prst="straightConnector1">
            <a:avLst/>
          </a:prstGeom>
          <a:ln w="28575">
            <a:solidFill>
              <a:srgbClr val="40578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9625DECD-0C9A-4379-BAD7-03259A30CD52}"/>
              </a:ext>
            </a:extLst>
          </p:cNvPr>
          <p:cNvSpPr/>
          <p:nvPr/>
        </p:nvSpPr>
        <p:spPr>
          <a:xfrm>
            <a:off x="1156490" y="4091461"/>
            <a:ext cx="1676257" cy="318109"/>
          </a:xfrm>
          <a:prstGeom prst="roundRect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Antworten kodieren</a:t>
            </a: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0F359A76-9ECD-4606-BBC0-D2EDC3A3FF06}"/>
              </a:ext>
            </a:extLst>
          </p:cNvPr>
          <p:cNvSpPr/>
          <p:nvPr/>
        </p:nvSpPr>
        <p:spPr>
          <a:xfrm>
            <a:off x="1156490" y="4701454"/>
            <a:ext cx="1676257" cy="318109"/>
          </a:xfrm>
          <a:prstGeom prst="roundRect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Daten analysieren</a:t>
            </a: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2E870002-6C23-4235-9F19-ACEC1BA0CCFD}"/>
              </a:ext>
            </a:extLst>
          </p:cNvPr>
          <p:cNvSpPr/>
          <p:nvPr/>
        </p:nvSpPr>
        <p:spPr>
          <a:xfrm>
            <a:off x="1156490" y="5311448"/>
            <a:ext cx="1676257" cy="318109"/>
          </a:xfrm>
          <a:prstGeom prst="roundRect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Ergebnisse berichten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9FBE4D5C-043B-40AC-82E0-E06811BCCB84}"/>
              </a:ext>
            </a:extLst>
          </p:cNvPr>
          <p:cNvCxnSpPr>
            <a:cxnSpLocks/>
            <a:stCxn id="8" idx="2"/>
            <a:endCxn id="26" idx="0"/>
          </p:cNvCxnSpPr>
          <p:nvPr/>
        </p:nvCxnSpPr>
        <p:spPr>
          <a:xfrm flipH="1">
            <a:off x="1994619" y="3631711"/>
            <a:ext cx="1" cy="459750"/>
          </a:xfrm>
          <a:prstGeom prst="straightConnector1">
            <a:avLst/>
          </a:prstGeom>
          <a:ln w="28575">
            <a:solidFill>
              <a:srgbClr val="40578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98E9F793-48FF-4A5B-B432-C274A97E634B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>
            <a:off x="1994619" y="4409569"/>
            <a:ext cx="0" cy="291885"/>
          </a:xfrm>
          <a:prstGeom prst="straightConnector1">
            <a:avLst/>
          </a:prstGeom>
          <a:ln w="28575">
            <a:solidFill>
              <a:srgbClr val="40578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22E96B1D-AD46-4C04-9138-CB3D76FE4639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1994619" y="5019563"/>
            <a:ext cx="0" cy="291885"/>
          </a:xfrm>
          <a:prstGeom prst="straightConnector1">
            <a:avLst/>
          </a:prstGeom>
          <a:ln w="28575">
            <a:solidFill>
              <a:srgbClr val="40578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D3101B41-FD70-4144-9F1D-076707FAE58E}"/>
              </a:ext>
            </a:extLst>
          </p:cNvPr>
          <p:cNvGrpSpPr/>
          <p:nvPr/>
        </p:nvGrpSpPr>
        <p:grpSpPr>
          <a:xfrm>
            <a:off x="4357836" y="2438401"/>
            <a:ext cx="2266758" cy="3290805"/>
            <a:chOff x="357336" y="2428876"/>
            <a:chExt cx="2266758" cy="3290805"/>
          </a:xfrm>
        </p:grpSpPr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A0A7B701-6983-4CD7-8BF2-096C296B8C62}"/>
                </a:ext>
              </a:extLst>
            </p:cNvPr>
            <p:cNvSpPr/>
            <p:nvPr/>
          </p:nvSpPr>
          <p:spPr>
            <a:xfrm>
              <a:off x="357336" y="2428876"/>
              <a:ext cx="2266758" cy="3290805"/>
            </a:xfrm>
            <a:prstGeom prst="rect">
              <a:avLst/>
            </a:prstGeom>
            <a:solidFill>
              <a:srgbClr val="D6DC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de-DE" sz="1600" b="1">
                  <a:solidFill>
                    <a:srgbClr val="405786"/>
                  </a:solidFill>
                </a:rPr>
                <a:t>Assessment Package</a:t>
              </a:r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3333A75C-F528-4E98-B21A-2ED7E6180BAE}"/>
                </a:ext>
              </a:extLst>
            </p:cNvPr>
            <p:cNvSpPr/>
            <p:nvPr/>
          </p:nvSpPr>
          <p:spPr>
            <a:xfrm>
              <a:off x="471488" y="3214225"/>
              <a:ext cx="2152605" cy="2838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de-DE" sz="1400">
                  <a:solidFill>
                    <a:srgbClr val="405786"/>
                  </a:solidFill>
                </a:rPr>
                <a:t>Aufgaben, Testhefte</a:t>
              </a: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6BBB1F6F-854F-4A13-9BD2-320FBDBAC954}"/>
                </a:ext>
              </a:extLst>
            </p:cNvPr>
            <p:cNvSpPr/>
            <p:nvPr/>
          </p:nvSpPr>
          <p:spPr>
            <a:xfrm>
              <a:off x="471488" y="4095897"/>
              <a:ext cx="2152605" cy="2838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de-DE" sz="1400">
                  <a:solidFill>
                    <a:srgbClr val="405786"/>
                  </a:solidFill>
                </a:rPr>
                <a:t>Kodiervorschriften</a:t>
              </a:r>
              <a:endParaRPr lang="de-DE" sz="1600">
                <a:solidFill>
                  <a:srgbClr val="405786"/>
                </a:solidFill>
              </a:endParaRPr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0045C2F8-8393-4068-905F-BC71083EC3F9}"/>
                </a:ext>
              </a:extLst>
            </p:cNvPr>
            <p:cNvSpPr/>
            <p:nvPr/>
          </p:nvSpPr>
          <p:spPr>
            <a:xfrm>
              <a:off x="471488" y="4705890"/>
              <a:ext cx="2152605" cy="2838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de-DE" sz="1400">
                  <a:solidFill>
                    <a:srgbClr val="405786"/>
                  </a:solidFill>
                </a:rPr>
                <a:t>Skalen</a:t>
              </a:r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C56EA558-E1C2-47E1-AEF8-7813D473A629}"/>
                </a:ext>
              </a:extLst>
            </p:cNvPr>
            <p:cNvSpPr/>
            <p:nvPr/>
          </p:nvSpPr>
          <p:spPr>
            <a:xfrm>
              <a:off x="471488" y="5311268"/>
              <a:ext cx="2152605" cy="2838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de-DE" sz="1400">
                  <a:solidFill>
                    <a:srgbClr val="405786"/>
                  </a:solidFill>
                </a:rPr>
                <a:t>Material, Textbausteine</a:t>
              </a:r>
            </a:p>
          </p:txBody>
        </p:sp>
      </p:grp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02E079B6-BCEB-43F1-B283-6F15D72C8FBE}"/>
              </a:ext>
            </a:extLst>
          </p:cNvPr>
          <p:cNvCxnSpPr>
            <a:cxnSpLocks/>
          </p:cNvCxnSpPr>
          <p:nvPr/>
        </p:nvCxnSpPr>
        <p:spPr>
          <a:xfrm>
            <a:off x="3315475" y="3371996"/>
            <a:ext cx="1199375" cy="0"/>
          </a:xfrm>
          <a:prstGeom prst="straightConnector1">
            <a:avLst/>
          </a:prstGeom>
          <a:ln w="22225">
            <a:solidFill>
              <a:srgbClr val="40578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4E89F041-1D7F-40BA-B6C5-52550DDBA935}"/>
              </a:ext>
            </a:extLst>
          </p:cNvPr>
          <p:cNvCxnSpPr>
            <a:cxnSpLocks/>
          </p:cNvCxnSpPr>
          <p:nvPr/>
        </p:nvCxnSpPr>
        <p:spPr>
          <a:xfrm>
            <a:off x="3315475" y="4252030"/>
            <a:ext cx="1199375" cy="0"/>
          </a:xfrm>
          <a:prstGeom prst="straightConnector1">
            <a:avLst/>
          </a:prstGeom>
          <a:ln w="22225">
            <a:solidFill>
              <a:srgbClr val="40578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AE56383E-D8F3-491A-B496-6ECBF3C4CBEB}"/>
              </a:ext>
            </a:extLst>
          </p:cNvPr>
          <p:cNvCxnSpPr>
            <a:cxnSpLocks/>
          </p:cNvCxnSpPr>
          <p:nvPr/>
        </p:nvCxnSpPr>
        <p:spPr>
          <a:xfrm>
            <a:off x="3315475" y="4865388"/>
            <a:ext cx="1198800" cy="0"/>
          </a:xfrm>
          <a:prstGeom prst="straightConnector1">
            <a:avLst/>
          </a:prstGeom>
          <a:ln w="22225">
            <a:solidFill>
              <a:srgbClr val="40578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5E9054F2-F452-4AC2-A247-39A9A2801713}"/>
              </a:ext>
            </a:extLst>
          </p:cNvPr>
          <p:cNvCxnSpPr>
            <a:cxnSpLocks/>
          </p:cNvCxnSpPr>
          <p:nvPr/>
        </p:nvCxnSpPr>
        <p:spPr>
          <a:xfrm>
            <a:off x="3315475" y="5478746"/>
            <a:ext cx="1198800" cy="0"/>
          </a:xfrm>
          <a:prstGeom prst="straightConnector1">
            <a:avLst/>
          </a:prstGeom>
          <a:ln w="22225">
            <a:solidFill>
              <a:srgbClr val="40578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079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B373BB0E-CC21-4468-A11B-DA3B56985F35}"/>
              </a:ext>
            </a:extLst>
          </p:cNvPr>
          <p:cNvSpPr/>
          <p:nvPr/>
        </p:nvSpPr>
        <p:spPr>
          <a:xfrm rot="3850881">
            <a:off x="1905879" y="2210141"/>
            <a:ext cx="1065792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9664993-9ED6-4670-922B-6DCFB75DA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intro2.png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F4BB3833-2C2A-4D03-85C1-B048B97B60EA}"/>
              </a:ext>
            </a:extLst>
          </p:cNvPr>
          <p:cNvSpPr/>
          <p:nvPr/>
        </p:nvSpPr>
        <p:spPr>
          <a:xfrm>
            <a:off x="4866374" y="3322333"/>
            <a:ext cx="1387562" cy="318109"/>
          </a:xfrm>
          <a:prstGeom prst="roundRect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Dashboard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19FAA75-2688-4E1B-A8A9-97CF000C9D32}"/>
              </a:ext>
            </a:extLst>
          </p:cNvPr>
          <p:cNvSpPr/>
          <p:nvPr/>
        </p:nvSpPr>
        <p:spPr>
          <a:xfrm>
            <a:off x="1802462" y="2185932"/>
            <a:ext cx="958211" cy="2232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Inhaltspaket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22" name="Pfeil: nach rechts 21">
            <a:extLst>
              <a:ext uri="{FF2B5EF4-FFF2-40B4-BE49-F238E27FC236}">
                <a16:creationId xmlns:a16="http://schemas.microsoft.com/office/drawing/2014/main" id="{F0ED9A78-65FF-4184-87C8-D2B65CA89911}"/>
              </a:ext>
            </a:extLst>
          </p:cNvPr>
          <p:cNvSpPr/>
          <p:nvPr/>
        </p:nvSpPr>
        <p:spPr>
          <a:xfrm>
            <a:off x="3517112" y="3322438"/>
            <a:ext cx="1349261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Pfeil: nach rechts 24">
            <a:extLst>
              <a:ext uri="{FF2B5EF4-FFF2-40B4-BE49-F238E27FC236}">
                <a16:creationId xmlns:a16="http://schemas.microsoft.com/office/drawing/2014/main" id="{753FC8FE-F56E-45C4-9E72-DDBA99836111}"/>
              </a:ext>
            </a:extLst>
          </p:cNvPr>
          <p:cNvSpPr/>
          <p:nvPr/>
        </p:nvSpPr>
        <p:spPr>
          <a:xfrm rot="17749119" flipH="1">
            <a:off x="3525804" y="2216125"/>
            <a:ext cx="1065792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228CEA52-D8AD-4F8B-9BD6-0786BCDFAE01}"/>
              </a:ext>
            </a:extLst>
          </p:cNvPr>
          <p:cNvGrpSpPr/>
          <p:nvPr/>
        </p:nvGrpSpPr>
        <p:grpSpPr>
          <a:xfrm>
            <a:off x="1218636" y="1679822"/>
            <a:ext cx="4060201" cy="318109"/>
            <a:chOff x="1288215" y="1678108"/>
            <a:chExt cx="4060201" cy="318109"/>
          </a:xfrm>
        </p:grpSpPr>
        <p:sp>
          <p:nvSpPr>
            <p:cNvPr id="4" name="Rechteck: abgerundete Ecken 3">
              <a:extLst>
                <a:ext uri="{FF2B5EF4-FFF2-40B4-BE49-F238E27FC236}">
                  <a16:creationId xmlns:a16="http://schemas.microsoft.com/office/drawing/2014/main" id="{1D19F10A-674D-4908-9A18-FDAD3BD7BEDC}"/>
                </a:ext>
              </a:extLst>
            </p:cNvPr>
            <p:cNvSpPr/>
            <p:nvPr/>
          </p:nvSpPr>
          <p:spPr>
            <a:xfrm>
              <a:off x="1288215" y="1678108"/>
              <a:ext cx="1676257" cy="318109"/>
            </a:xfrm>
            <a:prstGeom prst="roundRect">
              <a:avLst/>
            </a:prstGeom>
            <a:solidFill>
              <a:srgbClr val="405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IQB-ContentHub</a:t>
              </a:r>
            </a:p>
          </p:txBody>
        </p:sp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2B3200A0-8EF8-4FFF-B02C-41172859B333}"/>
                </a:ext>
              </a:extLst>
            </p:cNvPr>
            <p:cNvSpPr/>
            <p:nvPr/>
          </p:nvSpPr>
          <p:spPr>
            <a:xfrm>
              <a:off x="3548262" y="1678108"/>
              <a:ext cx="1800154" cy="318109"/>
            </a:xfrm>
            <a:prstGeom prst="roundRect">
              <a:avLst/>
            </a:prstGeom>
            <a:solidFill>
              <a:srgbClr val="405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Schulverwaltungssystem</a:t>
              </a:r>
            </a:p>
          </p:txBody>
        </p:sp>
      </p:grpSp>
      <p:sp>
        <p:nvSpPr>
          <p:cNvPr id="13" name="Rechteck 12">
            <a:extLst>
              <a:ext uri="{FF2B5EF4-FFF2-40B4-BE49-F238E27FC236}">
                <a16:creationId xmlns:a16="http://schemas.microsoft.com/office/drawing/2014/main" id="{A96BB776-D63D-43FB-B470-D03AEB0699BD}"/>
              </a:ext>
            </a:extLst>
          </p:cNvPr>
          <p:cNvSpPr/>
          <p:nvPr/>
        </p:nvSpPr>
        <p:spPr>
          <a:xfrm>
            <a:off x="3861460" y="2129436"/>
            <a:ext cx="1294330" cy="466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Personendaten, Klassendaten</a:t>
            </a:r>
          </a:p>
        </p:txBody>
      </p:sp>
      <p:sp>
        <p:nvSpPr>
          <p:cNvPr id="29" name="Pfeil: nach rechts 28">
            <a:extLst>
              <a:ext uri="{FF2B5EF4-FFF2-40B4-BE49-F238E27FC236}">
                <a16:creationId xmlns:a16="http://schemas.microsoft.com/office/drawing/2014/main" id="{45D89B47-52C5-4AD1-841B-8C552476B40A}"/>
              </a:ext>
            </a:extLst>
          </p:cNvPr>
          <p:cNvSpPr/>
          <p:nvPr/>
        </p:nvSpPr>
        <p:spPr>
          <a:xfrm rot="3850881">
            <a:off x="3276646" y="4495745"/>
            <a:ext cx="1527551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Pfeil: nach rechts 29">
            <a:extLst>
              <a:ext uri="{FF2B5EF4-FFF2-40B4-BE49-F238E27FC236}">
                <a16:creationId xmlns:a16="http://schemas.microsoft.com/office/drawing/2014/main" id="{E948116F-D3FA-490C-B367-80E0CEF4121F}"/>
              </a:ext>
            </a:extLst>
          </p:cNvPr>
          <p:cNvSpPr/>
          <p:nvPr/>
        </p:nvSpPr>
        <p:spPr>
          <a:xfrm rot="17749119" flipH="1">
            <a:off x="1430695" y="4468969"/>
            <a:ext cx="1543075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Pfeil: nach rechts 30">
            <a:extLst>
              <a:ext uri="{FF2B5EF4-FFF2-40B4-BE49-F238E27FC236}">
                <a16:creationId xmlns:a16="http://schemas.microsoft.com/office/drawing/2014/main" id="{7E1AE68B-0EA4-4E51-B712-345F46C22250}"/>
              </a:ext>
            </a:extLst>
          </p:cNvPr>
          <p:cNvSpPr/>
          <p:nvPr/>
        </p:nvSpPr>
        <p:spPr>
          <a:xfrm rot="3850881" flipH="1" flipV="1">
            <a:off x="3611056" y="4547686"/>
            <a:ext cx="1608578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Pfeil: nach rechts 31">
            <a:extLst>
              <a:ext uri="{FF2B5EF4-FFF2-40B4-BE49-F238E27FC236}">
                <a16:creationId xmlns:a16="http://schemas.microsoft.com/office/drawing/2014/main" id="{77EB62EE-B0EB-405E-A9E7-31819D74898A}"/>
              </a:ext>
            </a:extLst>
          </p:cNvPr>
          <p:cNvSpPr/>
          <p:nvPr/>
        </p:nvSpPr>
        <p:spPr>
          <a:xfrm rot="17749119" flipV="1">
            <a:off x="1637146" y="4707528"/>
            <a:ext cx="1581085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650F3AC-0BB7-413D-9A58-24EF66CF2B4F}"/>
              </a:ext>
            </a:extLst>
          </p:cNvPr>
          <p:cNvSpPr/>
          <p:nvPr/>
        </p:nvSpPr>
        <p:spPr>
          <a:xfrm>
            <a:off x="3784333" y="5357746"/>
            <a:ext cx="1676257" cy="318109"/>
          </a:xfrm>
          <a:prstGeom prst="roundRect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IQB-ResponseAnalyser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9E9FFAC-5BDD-4619-B944-B410E0D4B7C9}"/>
              </a:ext>
            </a:extLst>
          </p:cNvPr>
          <p:cNvSpPr/>
          <p:nvPr/>
        </p:nvSpPr>
        <p:spPr>
          <a:xfrm>
            <a:off x="2129550" y="2762250"/>
            <a:ext cx="2238375" cy="1438275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Management-Portal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C5C6E94-3059-4E24-8C1A-34FE1F4BF7F0}"/>
              </a:ext>
            </a:extLst>
          </p:cNvPr>
          <p:cNvSpPr/>
          <p:nvPr/>
        </p:nvSpPr>
        <p:spPr>
          <a:xfrm>
            <a:off x="4253878" y="4323322"/>
            <a:ext cx="1294330" cy="466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Personen-fähigkeitswerte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BC0748C-9234-4B45-8D10-CBF7EEE1374C}"/>
              </a:ext>
            </a:extLst>
          </p:cNvPr>
          <p:cNvSpPr/>
          <p:nvPr/>
        </p:nvSpPr>
        <p:spPr>
          <a:xfrm>
            <a:off x="2245213" y="4866477"/>
            <a:ext cx="866143" cy="2751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Antworten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8BE632D-9126-48FC-ABAA-B1E77D0C6B0D}"/>
              </a:ext>
            </a:extLst>
          </p:cNvPr>
          <p:cNvSpPr/>
          <p:nvPr/>
        </p:nvSpPr>
        <p:spPr>
          <a:xfrm>
            <a:off x="3222584" y="4356059"/>
            <a:ext cx="951451" cy="466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Antworten, Skalen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5BFC3D8-81AB-4B6E-AC39-A38E82FEDBCA}"/>
              </a:ext>
            </a:extLst>
          </p:cNvPr>
          <p:cNvSpPr/>
          <p:nvPr/>
        </p:nvSpPr>
        <p:spPr>
          <a:xfrm>
            <a:off x="1489393" y="4134614"/>
            <a:ext cx="912402" cy="49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Aufgaben, Testhefte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CA9A0AFC-CDCE-4998-A4B7-46F43B78EA44}"/>
              </a:ext>
            </a:extLst>
          </p:cNvPr>
          <p:cNvSpPr/>
          <p:nvPr/>
        </p:nvSpPr>
        <p:spPr>
          <a:xfrm>
            <a:off x="1197445" y="5338674"/>
            <a:ext cx="1676257" cy="318109"/>
          </a:xfrm>
          <a:prstGeom prst="roundRect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IQB-Testcenter</a:t>
            </a:r>
          </a:p>
        </p:txBody>
      </p:sp>
    </p:spTree>
    <p:extLst>
      <p:ext uri="{BB962C8B-B14F-4D97-AF65-F5344CB8AC3E}">
        <p14:creationId xmlns:p14="http://schemas.microsoft.com/office/powerpoint/2010/main" val="4177106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B373BB0E-CC21-4468-A11B-DA3B56985F35}"/>
              </a:ext>
            </a:extLst>
          </p:cNvPr>
          <p:cNvSpPr/>
          <p:nvPr/>
        </p:nvSpPr>
        <p:spPr>
          <a:xfrm rot="3850881">
            <a:off x="1905879" y="2210141"/>
            <a:ext cx="1065792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9664993-9ED6-4670-922B-6DCFB75DA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intro3.png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F4BB3833-2C2A-4D03-85C1-B048B97B60EA}"/>
              </a:ext>
            </a:extLst>
          </p:cNvPr>
          <p:cNvSpPr/>
          <p:nvPr/>
        </p:nvSpPr>
        <p:spPr>
          <a:xfrm>
            <a:off x="4866374" y="3322333"/>
            <a:ext cx="1387562" cy="31810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tx1"/>
                </a:solidFill>
              </a:rPr>
              <a:t>Bericht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19FAA75-2688-4E1B-A8A9-97CF000C9D32}"/>
              </a:ext>
            </a:extLst>
          </p:cNvPr>
          <p:cNvSpPr/>
          <p:nvPr/>
        </p:nvSpPr>
        <p:spPr>
          <a:xfrm>
            <a:off x="1802463" y="2185932"/>
            <a:ext cx="912402" cy="2565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Units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22" name="Pfeil: nach rechts 21">
            <a:extLst>
              <a:ext uri="{FF2B5EF4-FFF2-40B4-BE49-F238E27FC236}">
                <a16:creationId xmlns:a16="http://schemas.microsoft.com/office/drawing/2014/main" id="{F0ED9A78-65FF-4184-87C8-D2B65CA89911}"/>
              </a:ext>
            </a:extLst>
          </p:cNvPr>
          <p:cNvSpPr/>
          <p:nvPr/>
        </p:nvSpPr>
        <p:spPr>
          <a:xfrm>
            <a:off x="3517112" y="3322438"/>
            <a:ext cx="1349261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Pfeil: nach rechts 24">
            <a:extLst>
              <a:ext uri="{FF2B5EF4-FFF2-40B4-BE49-F238E27FC236}">
                <a16:creationId xmlns:a16="http://schemas.microsoft.com/office/drawing/2014/main" id="{753FC8FE-F56E-45C4-9E72-DDBA99836111}"/>
              </a:ext>
            </a:extLst>
          </p:cNvPr>
          <p:cNvSpPr/>
          <p:nvPr/>
        </p:nvSpPr>
        <p:spPr>
          <a:xfrm rot="17749119" flipH="1">
            <a:off x="3525804" y="2216125"/>
            <a:ext cx="1065792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228CEA52-D8AD-4F8B-9BD6-0786BCDFAE01}"/>
              </a:ext>
            </a:extLst>
          </p:cNvPr>
          <p:cNvGrpSpPr/>
          <p:nvPr/>
        </p:nvGrpSpPr>
        <p:grpSpPr>
          <a:xfrm>
            <a:off x="1218636" y="1679822"/>
            <a:ext cx="4060201" cy="318109"/>
            <a:chOff x="1288215" y="1678108"/>
            <a:chExt cx="4060201" cy="318109"/>
          </a:xfrm>
        </p:grpSpPr>
        <p:sp>
          <p:nvSpPr>
            <p:cNvPr id="4" name="Rechteck: abgerundete Ecken 3">
              <a:extLst>
                <a:ext uri="{FF2B5EF4-FFF2-40B4-BE49-F238E27FC236}">
                  <a16:creationId xmlns:a16="http://schemas.microsoft.com/office/drawing/2014/main" id="{1D19F10A-674D-4908-9A18-FDAD3BD7BEDC}"/>
                </a:ext>
              </a:extLst>
            </p:cNvPr>
            <p:cNvSpPr/>
            <p:nvPr/>
          </p:nvSpPr>
          <p:spPr>
            <a:xfrm>
              <a:off x="1288215" y="1678108"/>
              <a:ext cx="1676257" cy="318109"/>
            </a:xfrm>
            <a:prstGeom prst="roundRect">
              <a:avLst/>
            </a:prstGeom>
            <a:solidFill>
              <a:srgbClr val="4057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IQB-Studio</a:t>
              </a:r>
            </a:p>
          </p:txBody>
        </p:sp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2B3200A0-8EF8-4FFF-B02C-41172859B333}"/>
                </a:ext>
              </a:extLst>
            </p:cNvPr>
            <p:cNvSpPr/>
            <p:nvPr/>
          </p:nvSpPr>
          <p:spPr>
            <a:xfrm>
              <a:off x="3548262" y="1678108"/>
              <a:ext cx="1800154" cy="3181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b="1">
                  <a:solidFill>
                    <a:schemeClr val="tx1"/>
                  </a:solidFill>
                </a:rPr>
                <a:t>Excel-Dateien, XML</a:t>
              </a:r>
            </a:p>
          </p:txBody>
        </p:sp>
      </p:grpSp>
      <p:sp>
        <p:nvSpPr>
          <p:cNvPr id="13" name="Rechteck 12">
            <a:extLst>
              <a:ext uri="{FF2B5EF4-FFF2-40B4-BE49-F238E27FC236}">
                <a16:creationId xmlns:a16="http://schemas.microsoft.com/office/drawing/2014/main" id="{A96BB776-D63D-43FB-B470-D03AEB0699BD}"/>
              </a:ext>
            </a:extLst>
          </p:cNvPr>
          <p:cNvSpPr/>
          <p:nvPr/>
        </p:nvSpPr>
        <p:spPr>
          <a:xfrm>
            <a:off x="3861460" y="2129436"/>
            <a:ext cx="1294330" cy="466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Personendaten, Klassendaten</a:t>
            </a:r>
          </a:p>
        </p:txBody>
      </p:sp>
      <p:sp>
        <p:nvSpPr>
          <p:cNvPr id="29" name="Pfeil: nach rechts 28">
            <a:extLst>
              <a:ext uri="{FF2B5EF4-FFF2-40B4-BE49-F238E27FC236}">
                <a16:creationId xmlns:a16="http://schemas.microsoft.com/office/drawing/2014/main" id="{45D89B47-52C5-4AD1-841B-8C552476B40A}"/>
              </a:ext>
            </a:extLst>
          </p:cNvPr>
          <p:cNvSpPr/>
          <p:nvPr/>
        </p:nvSpPr>
        <p:spPr>
          <a:xfrm rot="3850881">
            <a:off x="3276646" y="4495745"/>
            <a:ext cx="1527551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Pfeil: nach rechts 29">
            <a:extLst>
              <a:ext uri="{FF2B5EF4-FFF2-40B4-BE49-F238E27FC236}">
                <a16:creationId xmlns:a16="http://schemas.microsoft.com/office/drawing/2014/main" id="{E948116F-D3FA-490C-B367-80E0CEF4121F}"/>
              </a:ext>
            </a:extLst>
          </p:cNvPr>
          <p:cNvSpPr/>
          <p:nvPr/>
        </p:nvSpPr>
        <p:spPr>
          <a:xfrm rot="17749119" flipH="1">
            <a:off x="1430695" y="4468969"/>
            <a:ext cx="1543075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Pfeil: nach rechts 30">
            <a:extLst>
              <a:ext uri="{FF2B5EF4-FFF2-40B4-BE49-F238E27FC236}">
                <a16:creationId xmlns:a16="http://schemas.microsoft.com/office/drawing/2014/main" id="{7E1AE68B-0EA4-4E51-B712-345F46C22250}"/>
              </a:ext>
            </a:extLst>
          </p:cNvPr>
          <p:cNvSpPr/>
          <p:nvPr/>
        </p:nvSpPr>
        <p:spPr>
          <a:xfrm rot="3850881" flipH="1" flipV="1">
            <a:off x="3611056" y="4547686"/>
            <a:ext cx="1608578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Pfeil: nach rechts 31">
            <a:extLst>
              <a:ext uri="{FF2B5EF4-FFF2-40B4-BE49-F238E27FC236}">
                <a16:creationId xmlns:a16="http://schemas.microsoft.com/office/drawing/2014/main" id="{77EB62EE-B0EB-405E-A9E7-31819D74898A}"/>
              </a:ext>
            </a:extLst>
          </p:cNvPr>
          <p:cNvSpPr/>
          <p:nvPr/>
        </p:nvSpPr>
        <p:spPr>
          <a:xfrm rot="17749119" flipV="1">
            <a:off x="1637146" y="4707528"/>
            <a:ext cx="1581085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650F3AC-0BB7-413D-9A58-24EF66CF2B4F}"/>
              </a:ext>
            </a:extLst>
          </p:cNvPr>
          <p:cNvSpPr/>
          <p:nvPr/>
        </p:nvSpPr>
        <p:spPr>
          <a:xfrm>
            <a:off x="3784333" y="5357746"/>
            <a:ext cx="1676257" cy="318109"/>
          </a:xfrm>
          <a:prstGeom prst="roundRect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IQB-KodierBox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9E9FFAC-5BDD-4619-B944-B410E0D4B7C9}"/>
              </a:ext>
            </a:extLst>
          </p:cNvPr>
          <p:cNvSpPr/>
          <p:nvPr/>
        </p:nvSpPr>
        <p:spPr>
          <a:xfrm>
            <a:off x="2129550" y="2762250"/>
            <a:ext cx="2238375" cy="14382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chemeClr val="tx1"/>
                </a:solidFill>
              </a:rPr>
              <a:t>Manuelles Daten-management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C5C6E94-3059-4E24-8C1A-34FE1F4BF7F0}"/>
              </a:ext>
            </a:extLst>
          </p:cNvPr>
          <p:cNvSpPr/>
          <p:nvPr/>
        </p:nvSpPr>
        <p:spPr>
          <a:xfrm>
            <a:off x="4082648" y="4564268"/>
            <a:ext cx="1294330" cy="466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Item-Matrix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BC0748C-9234-4B45-8D10-CBF7EEE1374C}"/>
              </a:ext>
            </a:extLst>
          </p:cNvPr>
          <p:cNvSpPr/>
          <p:nvPr/>
        </p:nvSpPr>
        <p:spPr>
          <a:xfrm>
            <a:off x="2245213" y="4866477"/>
            <a:ext cx="866143" cy="2751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Antworten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8BE632D-9126-48FC-ABAA-B1E77D0C6B0D}"/>
              </a:ext>
            </a:extLst>
          </p:cNvPr>
          <p:cNvSpPr/>
          <p:nvPr/>
        </p:nvSpPr>
        <p:spPr>
          <a:xfrm>
            <a:off x="3222584" y="4356059"/>
            <a:ext cx="951451" cy="466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Antworten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5BFC3D8-81AB-4B6E-AC39-A38E82FEDBCA}"/>
              </a:ext>
            </a:extLst>
          </p:cNvPr>
          <p:cNvSpPr/>
          <p:nvPr/>
        </p:nvSpPr>
        <p:spPr>
          <a:xfrm>
            <a:off x="1489393" y="4134614"/>
            <a:ext cx="912402" cy="49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Aufgaben, Testhefte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CA9A0AFC-CDCE-4998-A4B7-46F43B78EA44}"/>
              </a:ext>
            </a:extLst>
          </p:cNvPr>
          <p:cNvSpPr/>
          <p:nvPr/>
        </p:nvSpPr>
        <p:spPr>
          <a:xfrm>
            <a:off x="1197445" y="5338674"/>
            <a:ext cx="1676257" cy="318109"/>
          </a:xfrm>
          <a:prstGeom prst="roundRect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IQB-Testcenter</a:t>
            </a:r>
          </a:p>
        </p:txBody>
      </p:sp>
    </p:spTree>
    <p:extLst>
      <p:ext uri="{BB962C8B-B14F-4D97-AF65-F5344CB8AC3E}">
        <p14:creationId xmlns:p14="http://schemas.microsoft.com/office/powerpoint/2010/main" val="3027367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hteck 31">
            <a:extLst>
              <a:ext uri="{FF2B5EF4-FFF2-40B4-BE49-F238E27FC236}">
                <a16:creationId xmlns:a16="http://schemas.microsoft.com/office/drawing/2014/main" id="{547B6DB2-0CC1-4E3F-A59F-14514FC55285}"/>
              </a:ext>
            </a:extLst>
          </p:cNvPr>
          <p:cNvSpPr/>
          <p:nvPr/>
        </p:nvSpPr>
        <p:spPr>
          <a:xfrm rot="5400000">
            <a:off x="3272541" y="5262563"/>
            <a:ext cx="581025" cy="161925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Pfeil: nach rechts 19">
            <a:extLst>
              <a:ext uri="{FF2B5EF4-FFF2-40B4-BE49-F238E27FC236}">
                <a16:creationId xmlns:a16="http://schemas.microsoft.com/office/drawing/2014/main" id="{0ABCF2EB-9A46-4668-A3A9-1559701052A2}"/>
              </a:ext>
            </a:extLst>
          </p:cNvPr>
          <p:cNvSpPr/>
          <p:nvPr/>
        </p:nvSpPr>
        <p:spPr>
          <a:xfrm>
            <a:off x="3355659" y="4351076"/>
            <a:ext cx="1256860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450DD977-C9E8-4005-AE12-72EF5716B9CB}"/>
              </a:ext>
            </a:extLst>
          </p:cNvPr>
          <p:cNvSpPr/>
          <p:nvPr/>
        </p:nvSpPr>
        <p:spPr>
          <a:xfrm>
            <a:off x="3293745" y="3271600"/>
            <a:ext cx="1318773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51B04D-69E8-4BFE-9F1D-951E570F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response-analyser.png</a:t>
            </a:r>
          </a:p>
        </p:txBody>
      </p:sp>
      <p:sp>
        <p:nvSpPr>
          <p:cNvPr id="4" name="Pfeil: nach rechts 3">
            <a:extLst>
              <a:ext uri="{FF2B5EF4-FFF2-40B4-BE49-F238E27FC236}">
                <a16:creationId xmlns:a16="http://schemas.microsoft.com/office/drawing/2014/main" id="{9F9BAA5E-6368-402F-A075-A399214FBCD8}"/>
              </a:ext>
            </a:extLst>
          </p:cNvPr>
          <p:cNvSpPr/>
          <p:nvPr/>
        </p:nvSpPr>
        <p:spPr>
          <a:xfrm rot="5400000">
            <a:off x="2944315" y="2249102"/>
            <a:ext cx="754737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D492F30-5400-4C0A-AFC2-EAC63131E272}"/>
              </a:ext>
            </a:extLst>
          </p:cNvPr>
          <p:cNvSpPr/>
          <p:nvPr/>
        </p:nvSpPr>
        <p:spPr>
          <a:xfrm>
            <a:off x="2865482" y="2138628"/>
            <a:ext cx="912402" cy="465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Antworten (Variablen)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E68CA616-A0ED-4681-BB13-5AC00C9707F9}"/>
              </a:ext>
            </a:extLst>
          </p:cNvPr>
          <p:cNvSpPr/>
          <p:nvPr/>
        </p:nvSpPr>
        <p:spPr>
          <a:xfrm rot="5400000">
            <a:off x="2944315" y="3330861"/>
            <a:ext cx="754737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CEA54E5-572E-4CCE-A5EF-D17BB6BA5FFC}"/>
              </a:ext>
            </a:extLst>
          </p:cNvPr>
          <p:cNvSpPr/>
          <p:nvPr/>
        </p:nvSpPr>
        <p:spPr>
          <a:xfrm>
            <a:off x="2865482" y="3208925"/>
            <a:ext cx="912402" cy="4432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kodierte Antworten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6B49916C-9FB5-4D32-B4BD-F9242855DD09}"/>
              </a:ext>
            </a:extLst>
          </p:cNvPr>
          <p:cNvSpPr/>
          <p:nvPr/>
        </p:nvSpPr>
        <p:spPr>
          <a:xfrm>
            <a:off x="2483556" y="2807582"/>
            <a:ext cx="1676257" cy="318109"/>
          </a:xfrm>
          <a:prstGeom prst="roundRect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Autocoder</a:t>
            </a:r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F5B0DB56-B8B8-4F09-B779-DBDCC2B8FBB8}"/>
              </a:ext>
            </a:extLst>
          </p:cNvPr>
          <p:cNvSpPr/>
          <p:nvPr/>
        </p:nvSpPr>
        <p:spPr>
          <a:xfrm>
            <a:off x="1558749" y="3881358"/>
            <a:ext cx="912402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952B01B7-7CA7-4859-911C-8ED90D36D649}"/>
              </a:ext>
            </a:extLst>
          </p:cNvPr>
          <p:cNvSpPr/>
          <p:nvPr/>
        </p:nvSpPr>
        <p:spPr>
          <a:xfrm rot="5400000">
            <a:off x="2944314" y="4390458"/>
            <a:ext cx="754737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BF43FF3-FD4D-4671-BBE2-2F5FFF6683B1}"/>
              </a:ext>
            </a:extLst>
          </p:cNvPr>
          <p:cNvSpPr/>
          <p:nvPr/>
        </p:nvSpPr>
        <p:spPr>
          <a:xfrm>
            <a:off x="2865481" y="4268522"/>
            <a:ext cx="912402" cy="4432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Item-Matrix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FC665028-AAC4-4D57-AEAD-4DB95B7E292B}"/>
              </a:ext>
            </a:extLst>
          </p:cNvPr>
          <p:cNvSpPr/>
          <p:nvPr/>
        </p:nvSpPr>
        <p:spPr>
          <a:xfrm>
            <a:off x="2483556" y="3881358"/>
            <a:ext cx="1676257" cy="318109"/>
          </a:xfrm>
          <a:prstGeom prst="roundRect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Itemwerte ableiten</a:t>
            </a:r>
          </a:p>
        </p:txBody>
      </p:sp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863A3B5F-DF6D-42E3-B140-36287F671703}"/>
              </a:ext>
            </a:extLst>
          </p:cNvPr>
          <p:cNvSpPr/>
          <p:nvPr/>
        </p:nvSpPr>
        <p:spPr>
          <a:xfrm>
            <a:off x="1558749" y="4926776"/>
            <a:ext cx="912402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BE4BD864-25C8-4FB2-8119-D940D979F705}"/>
              </a:ext>
            </a:extLst>
          </p:cNvPr>
          <p:cNvSpPr/>
          <p:nvPr/>
        </p:nvSpPr>
        <p:spPr>
          <a:xfrm>
            <a:off x="2483556" y="4926776"/>
            <a:ext cx="1676257" cy="318109"/>
          </a:xfrm>
          <a:prstGeom prst="roundRect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Skalenwerte ableiten</a:t>
            </a:r>
          </a:p>
        </p:txBody>
      </p:sp>
      <p:sp>
        <p:nvSpPr>
          <p:cNvPr id="22" name="Pfeil: nach rechts 21">
            <a:extLst>
              <a:ext uri="{FF2B5EF4-FFF2-40B4-BE49-F238E27FC236}">
                <a16:creationId xmlns:a16="http://schemas.microsoft.com/office/drawing/2014/main" id="{B7BEFAAF-3039-4C25-8A91-9764F8C2F4EC}"/>
              </a:ext>
            </a:extLst>
          </p:cNvPr>
          <p:cNvSpPr/>
          <p:nvPr/>
        </p:nvSpPr>
        <p:spPr>
          <a:xfrm>
            <a:off x="1558749" y="2815339"/>
            <a:ext cx="912402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C023EEC-9FC4-4437-8575-93036B4F18E1}"/>
              </a:ext>
            </a:extLst>
          </p:cNvPr>
          <p:cNvSpPr/>
          <p:nvPr/>
        </p:nvSpPr>
        <p:spPr>
          <a:xfrm>
            <a:off x="650959" y="2604038"/>
            <a:ext cx="1391955" cy="3155038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>
                <a:solidFill>
                  <a:srgbClr val="405786"/>
                </a:solidFill>
              </a:rPr>
              <a:t>Assessment Package</a:t>
            </a:r>
          </a:p>
          <a:p>
            <a:endParaRPr lang="de-DE" sz="1600">
              <a:solidFill>
                <a:srgbClr val="405786"/>
              </a:solidFill>
            </a:endParaRPr>
          </a:p>
          <a:p>
            <a:endParaRPr lang="de-DE" sz="1600">
              <a:solidFill>
                <a:srgbClr val="405786"/>
              </a:solidFill>
            </a:endParaRPr>
          </a:p>
          <a:p>
            <a:endParaRPr lang="de-DE" sz="1600">
              <a:solidFill>
                <a:srgbClr val="405786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9160057-E182-4527-98B7-B0410D6C4443}"/>
              </a:ext>
            </a:extLst>
          </p:cNvPr>
          <p:cNvSpPr/>
          <p:nvPr/>
        </p:nvSpPr>
        <p:spPr>
          <a:xfrm>
            <a:off x="1376220" y="3819417"/>
            <a:ext cx="749160" cy="3997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Item-Liste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D5D6F1E-C581-4B54-9809-284B7E13817C}"/>
              </a:ext>
            </a:extLst>
          </p:cNvPr>
          <p:cNvSpPr/>
          <p:nvPr/>
        </p:nvSpPr>
        <p:spPr>
          <a:xfrm>
            <a:off x="1349198" y="4941205"/>
            <a:ext cx="808852" cy="2826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Skalen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A0B08DA1-F980-4E18-B4CC-577C8A1BE929}"/>
              </a:ext>
            </a:extLst>
          </p:cNvPr>
          <p:cNvSpPr/>
          <p:nvPr/>
        </p:nvSpPr>
        <p:spPr>
          <a:xfrm>
            <a:off x="1349198" y="2745011"/>
            <a:ext cx="808852" cy="4432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Kodier-Schema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5CD6CED-F4A9-4957-9DE7-BC2BF51D10A3}"/>
              </a:ext>
            </a:extLst>
          </p:cNvPr>
          <p:cNvSpPr/>
          <p:nvPr/>
        </p:nvSpPr>
        <p:spPr>
          <a:xfrm>
            <a:off x="4630015" y="2604038"/>
            <a:ext cx="1391955" cy="3155038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sz="1600">
                <a:solidFill>
                  <a:srgbClr val="405786"/>
                </a:solidFill>
              </a:rPr>
              <a:t>Speichern</a:t>
            </a:r>
          </a:p>
          <a:p>
            <a:pPr algn="r"/>
            <a:endParaRPr lang="de-DE" sz="1600">
              <a:solidFill>
                <a:srgbClr val="405786"/>
              </a:solidFill>
            </a:endParaRPr>
          </a:p>
          <a:p>
            <a:pPr algn="r"/>
            <a:r>
              <a:rPr lang="de-DE" sz="1600">
                <a:solidFill>
                  <a:srgbClr val="405786"/>
                </a:solidFill>
              </a:rPr>
              <a:t>Rückmeldung</a:t>
            </a:r>
          </a:p>
          <a:p>
            <a:pPr algn="r"/>
            <a:endParaRPr lang="de-DE" sz="1600">
              <a:solidFill>
                <a:srgbClr val="405786"/>
              </a:solidFill>
            </a:endParaRPr>
          </a:p>
          <a:p>
            <a:pPr algn="r"/>
            <a:r>
              <a:rPr lang="de-DE" sz="1600">
                <a:solidFill>
                  <a:srgbClr val="405786"/>
                </a:solidFill>
              </a:rPr>
              <a:t>Dashboard</a:t>
            </a:r>
          </a:p>
        </p:txBody>
      </p:sp>
      <p:sp>
        <p:nvSpPr>
          <p:cNvPr id="30" name="Pfeil: nach rechts 29">
            <a:extLst>
              <a:ext uri="{FF2B5EF4-FFF2-40B4-BE49-F238E27FC236}">
                <a16:creationId xmlns:a16="http://schemas.microsoft.com/office/drawing/2014/main" id="{730BF83F-2D33-486E-AFF3-E44D1A0F53B8}"/>
              </a:ext>
            </a:extLst>
          </p:cNvPr>
          <p:cNvSpPr/>
          <p:nvPr/>
        </p:nvSpPr>
        <p:spPr>
          <a:xfrm>
            <a:off x="3480631" y="5398381"/>
            <a:ext cx="1131887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C898965-3275-4C70-80C3-A487C8B568E7}"/>
              </a:ext>
            </a:extLst>
          </p:cNvPr>
          <p:cNvSpPr/>
          <p:nvPr/>
        </p:nvSpPr>
        <p:spPr>
          <a:xfrm>
            <a:off x="3268270" y="5303452"/>
            <a:ext cx="1294332" cy="4432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Personen-Fähigkeitswerte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36" name="Pfeil: nach rechts 35">
            <a:extLst>
              <a:ext uri="{FF2B5EF4-FFF2-40B4-BE49-F238E27FC236}">
                <a16:creationId xmlns:a16="http://schemas.microsoft.com/office/drawing/2014/main" id="{528C509C-B024-46F8-A594-7AAA73B99246}"/>
              </a:ext>
            </a:extLst>
          </p:cNvPr>
          <p:cNvSpPr/>
          <p:nvPr/>
        </p:nvSpPr>
        <p:spPr>
          <a:xfrm rot="16200000">
            <a:off x="2409548" y="5393561"/>
            <a:ext cx="591680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8676FEC2-3FB2-4376-9EF4-EEA7811E1208}"/>
              </a:ext>
            </a:extLst>
          </p:cNvPr>
          <p:cNvSpPr/>
          <p:nvPr/>
        </p:nvSpPr>
        <p:spPr>
          <a:xfrm>
            <a:off x="2288938" y="5841478"/>
            <a:ext cx="646609" cy="465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Zusatz-items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29" name="Pfeil: nach rechts 28">
            <a:extLst>
              <a:ext uri="{FF2B5EF4-FFF2-40B4-BE49-F238E27FC236}">
                <a16:creationId xmlns:a16="http://schemas.microsoft.com/office/drawing/2014/main" id="{2C84FA60-ECCB-4D17-813F-49C831BF79BD}"/>
              </a:ext>
            </a:extLst>
          </p:cNvPr>
          <p:cNvSpPr/>
          <p:nvPr/>
        </p:nvSpPr>
        <p:spPr>
          <a:xfrm rot="16200000">
            <a:off x="2750597" y="5386689"/>
            <a:ext cx="591680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6DBFEC0-E32B-4C6A-895C-18974A3E5691}"/>
              </a:ext>
            </a:extLst>
          </p:cNvPr>
          <p:cNvSpPr/>
          <p:nvPr/>
        </p:nvSpPr>
        <p:spPr>
          <a:xfrm>
            <a:off x="2798534" y="5841478"/>
            <a:ext cx="806679" cy="465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Fähigkeitswerte aus Vorjahr</a:t>
            </a:r>
            <a:endParaRPr lang="de-DE" sz="1400">
              <a:solidFill>
                <a:srgbClr val="4057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705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37EF18E0-4212-4E23-AFBF-5E4C5E72C87F}"/>
              </a:ext>
            </a:extLst>
          </p:cNvPr>
          <p:cNvSpPr/>
          <p:nvPr/>
        </p:nvSpPr>
        <p:spPr>
          <a:xfrm>
            <a:off x="2540000" y="2235200"/>
            <a:ext cx="2051050" cy="37211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51B04D-69E8-4BFE-9F1D-951E570F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response-analyser-func.png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6B49916C-9FB5-4D32-B4BD-F9242855DD09}"/>
              </a:ext>
            </a:extLst>
          </p:cNvPr>
          <p:cNvSpPr/>
          <p:nvPr/>
        </p:nvSpPr>
        <p:spPr>
          <a:xfrm>
            <a:off x="2782421" y="2487441"/>
            <a:ext cx="1575297" cy="422193"/>
          </a:xfrm>
          <a:prstGeom prst="roundRect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Kodierung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FC665028-AAC4-4D57-AEAD-4DB95B7E292B}"/>
              </a:ext>
            </a:extLst>
          </p:cNvPr>
          <p:cNvSpPr/>
          <p:nvPr/>
        </p:nvSpPr>
        <p:spPr>
          <a:xfrm>
            <a:off x="2782421" y="3572600"/>
            <a:ext cx="1575296" cy="434014"/>
          </a:xfrm>
          <a:prstGeom prst="roundRect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Item-Mapping</a:t>
            </a:r>
          </a:p>
        </p:txBody>
      </p:sp>
      <p:sp>
        <p:nvSpPr>
          <p:cNvPr id="38" name="Flussdiagramm: Verbinder zu einer anderen Seite 37">
            <a:extLst>
              <a:ext uri="{FF2B5EF4-FFF2-40B4-BE49-F238E27FC236}">
                <a16:creationId xmlns:a16="http://schemas.microsoft.com/office/drawing/2014/main" id="{9A83CDA0-42D0-4D73-84CE-BC010767B95F}"/>
              </a:ext>
            </a:extLst>
          </p:cNvPr>
          <p:cNvSpPr/>
          <p:nvPr/>
        </p:nvSpPr>
        <p:spPr>
          <a:xfrm>
            <a:off x="3124935" y="2908217"/>
            <a:ext cx="890268" cy="577545"/>
          </a:xfrm>
          <a:prstGeom prst="flowChartOffpageConnector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Kodierte</a:t>
            </a:r>
          </a:p>
          <a:p>
            <a:pPr algn="ctr"/>
            <a:r>
              <a:rPr lang="de-DE" sz="1200"/>
              <a:t>Antworten</a:t>
            </a:r>
          </a:p>
        </p:txBody>
      </p:sp>
      <p:sp>
        <p:nvSpPr>
          <p:cNvPr id="39" name="Flussdiagramm: Verbinder zu einer anderen Seite 38">
            <a:extLst>
              <a:ext uri="{FF2B5EF4-FFF2-40B4-BE49-F238E27FC236}">
                <a16:creationId xmlns:a16="http://schemas.microsoft.com/office/drawing/2014/main" id="{6941B918-0806-412E-AC6F-A3ED21A03301}"/>
              </a:ext>
            </a:extLst>
          </p:cNvPr>
          <p:cNvSpPr/>
          <p:nvPr/>
        </p:nvSpPr>
        <p:spPr>
          <a:xfrm>
            <a:off x="3124935" y="1787313"/>
            <a:ext cx="890268" cy="577545"/>
          </a:xfrm>
          <a:prstGeom prst="flowChartOffpageConnector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Roh-</a:t>
            </a:r>
          </a:p>
          <a:p>
            <a:pPr algn="ctr"/>
            <a:r>
              <a:rPr lang="de-DE" sz="1200"/>
              <a:t>Antworten</a:t>
            </a:r>
          </a:p>
        </p:txBody>
      </p:sp>
      <p:sp>
        <p:nvSpPr>
          <p:cNvPr id="42" name="Flussdiagramm: Verbinder zu einer anderen Seite 41">
            <a:extLst>
              <a:ext uri="{FF2B5EF4-FFF2-40B4-BE49-F238E27FC236}">
                <a16:creationId xmlns:a16="http://schemas.microsoft.com/office/drawing/2014/main" id="{64915EDD-FE4C-449C-B1D2-C363D87645D2}"/>
              </a:ext>
            </a:extLst>
          </p:cNvPr>
          <p:cNvSpPr/>
          <p:nvPr/>
        </p:nvSpPr>
        <p:spPr>
          <a:xfrm>
            <a:off x="3124935" y="4008353"/>
            <a:ext cx="890268" cy="577545"/>
          </a:xfrm>
          <a:prstGeom prst="flowChartOffpageConnector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Item-Array</a:t>
            </a:r>
          </a:p>
        </p:txBody>
      </p:sp>
      <p:sp>
        <p:nvSpPr>
          <p:cNvPr id="43" name="Pfeil: Fünfeck 42">
            <a:extLst>
              <a:ext uri="{FF2B5EF4-FFF2-40B4-BE49-F238E27FC236}">
                <a16:creationId xmlns:a16="http://schemas.microsoft.com/office/drawing/2014/main" id="{BE463C21-34A1-46C9-BDB6-A4E14D1DAB46}"/>
              </a:ext>
            </a:extLst>
          </p:cNvPr>
          <p:cNvSpPr/>
          <p:nvPr/>
        </p:nvSpPr>
        <p:spPr>
          <a:xfrm>
            <a:off x="1462043" y="3572600"/>
            <a:ext cx="1299717" cy="424133"/>
          </a:xfrm>
          <a:prstGeom prst="homePlate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>
                <a:solidFill>
                  <a:schemeClr val="tx1"/>
                </a:solidFill>
              </a:rPr>
              <a:t>Item-Liste</a:t>
            </a:r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123DEF27-8C5E-4BD9-8566-7C089C43D140}"/>
              </a:ext>
            </a:extLst>
          </p:cNvPr>
          <p:cNvSpPr/>
          <p:nvPr/>
        </p:nvSpPr>
        <p:spPr>
          <a:xfrm>
            <a:off x="2782421" y="4654787"/>
            <a:ext cx="1575297" cy="848266"/>
          </a:xfrm>
          <a:prstGeom prst="roundRect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Skalierung</a:t>
            </a:r>
          </a:p>
        </p:txBody>
      </p:sp>
      <p:sp>
        <p:nvSpPr>
          <p:cNvPr id="46" name="Flussdiagramm: Verbinder zu einer anderen Seite 45">
            <a:extLst>
              <a:ext uri="{FF2B5EF4-FFF2-40B4-BE49-F238E27FC236}">
                <a16:creationId xmlns:a16="http://schemas.microsoft.com/office/drawing/2014/main" id="{ACAFB794-65DC-47D5-9F93-BA7CB2D3CD86}"/>
              </a:ext>
            </a:extLst>
          </p:cNvPr>
          <p:cNvSpPr/>
          <p:nvPr/>
        </p:nvSpPr>
        <p:spPr>
          <a:xfrm>
            <a:off x="3124935" y="5503052"/>
            <a:ext cx="890268" cy="577545"/>
          </a:xfrm>
          <a:prstGeom prst="flowChartOffpageConnector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Skill-Set</a:t>
            </a:r>
          </a:p>
        </p:txBody>
      </p:sp>
      <p:sp>
        <p:nvSpPr>
          <p:cNvPr id="50" name="Pfeil: Fünfeck 49">
            <a:extLst>
              <a:ext uri="{FF2B5EF4-FFF2-40B4-BE49-F238E27FC236}">
                <a16:creationId xmlns:a16="http://schemas.microsoft.com/office/drawing/2014/main" id="{D9D09B6D-6308-49E1-AEAB-9987904C5A95}"/>
              </a:ext>
            </a:extLst>
          </p:cNvPr>
          <p:cNvSpPr/>
          <p:nvPr/>
        </p:nvSpPr>
        <p:spPr>
          <a:xfrm>
            <a:off x="1463040" y="2490414"/>
            <a:ext cx="1299717" cy="424133"/>
          </a:xfrm>
          <a:prstGeom prst="homePlate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>
                <a:solidFill>
                  <a:schemeClr val="tx1"/>
                </a:solidFill>
              </a:rPr>
              <a:t>Kodierschema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>
                <a:solidFill>
                  <a:schemeClr val="tx1"/>
                </a:solidFill>
              </a:rPr>
              <a:t>Konfiguration</a:t>
            </a:r>
          </a:p>
        </p:txBody>
      </p:sp>
      <p:sp>
        <p:nvSpPr>
          <p:cNvPr id="51" name="Pfeil: Fünfeck 50">
            <a:extLst>
              <a:ext uri="{FF2B5EF4-FFF2-40B4-BE49-F238E27FC236}">
                <a16:creationId xmlns:a16="http://schemas.microsoft.com/office/drawing/2014/main" id="{7192E30E-AA9C-40B1-93C2-C737AE1E5977}"/>
              </a:ext>
            </a:extLst>
          </p:cNvPr>
          <p:cNvSpPr/>
          <p:nvPr/>
        </p:nvSpPr>
        <p:spPr>
          <a:xfrm>
            <a:off x="1458773" y="4654786"/>
            <a:ext cx="1299717" cy="424133"/>
          </a:xfrm>
          <a:prstGeom prst="homePlate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>
                <a:solidFill>
                  <a:schemeClr val="tx1"/>
                </a:solidFill>
              </a:rPr>
              <a:t>Skalen-definitionen</a:t>
            </a:r>
          </a:p>
        </p:txBody>
      </p:sp>
      <p:sp>
        <p:nvSpPr>
          <p:cNvPr id="53" name="Pfeil: Fünfeck 52">
            <a:extLst>
              <a:ext uri="{FF2B5EF4-FFF2-40B4-BE49-F238E27FC236}">
                <a16:creationId xmlns:a16="http://schemas.microsoft.com/office/drawing/2014/main" id="{55A377E7-977E-463D-8A87-DFC24843E3CC}"/>
              </a:ext>
            </a:extLst>
          </p:cNvPr>
          <p:cNvSpPr/>
          <p:nvPr/>
        </p:nvSpPr>
        <p:spPr>
          <a:xfrm>
            <a:off x="1458773" y="5078919"/>
            <a:ext cx="1302987" cy="424133"/>
          </a:xfrm>
          <a:prstGeom prst="homePlate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>
                <a:solidFill>
                  <a:schemeClr val="bg1"/>
                </a:solidFill>
              </a:rPr>
              <a:t>Item-Array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>
                <a:solidFill>
                  <a:schemeClr val="bg1"/>
                </a:solidFill>
              </a:rPr>
              <a:t>Skill-Set</a:t>
            </a:r>
          </a:p>
        </p:txBody>
      </p:sp>
    </p:spTree>
    <p:extLst>
      <p:ext uri="{BB962C8B-B14F-4D97-AF65-F5344CB8AC3E}">
        <p14:creationId xmlns:p14="http://schemas.microsoft.com/office/powerpoint/2010/main" val="154576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feil: nach rechts 55">
            <a:extLst>
              <a:ext uri="{FF2B5EF4-FFF2-40B4-BE49-F238E27FC236}">
                <a16:creationId xmlns:a16="http://schemas.microsoft.com/office/drawing/2014/main" id="{8E0770B1-0687-4AE4-A351-D91B3356585F}"/>
              </a:ext>
            </a:extLst>
          </p:cNvPr>
          <p:cNvSpPr/>
          <p:nvPr/>
        </p:nvSpPr>
        <p:spPr>
          <a:xfrm rot="10800000" flipH="1">
            <a:off x="2420232" y="2256760"/>
            <a:ext cx="1523157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Pfeil: nach rechts 52">
            <a:extLst>
              <a:ext uri="{FF2B5EF4-FFF2-40B4-BE49-F238E27FC236}">
                <a16:creationId xmlns:a16="http://schemas.microsoft.com/office/drawing/2014/main" id="{6782127F-7395-40D6-BBE4-A9C252840B16}"/>
              </a:ext>
            </a:extLst>
          </p:cNvPr>
          <p:cNvSpPr/>
          <p:nvPr/>
        </p:nvSpPr>
        <p:spPr>
          <a:xfrm rot="10800000">
            <a:off x="2583262" y="2938205"/>
            <a:ext cx="1691476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Pfeil: nach rechts 51">
            <a:extLst>
              <a:ext uri="{FF2B5EF4-FFF2-40B4-BE49-F238E27FC236}">
                <a16:creationId xmlns:a16="http://schemas.microsoft.com/office/drawing/2014/main" id="{D596ED4A-B066-47F3-883E-6B929CE5C9D4}"/>
              </a:ext>
            </a:extLst>
          </p:cNvPr>
          <p:cNvSpPr/>
          <p:nvPr/>
        </p:nvSpPr>
        <p:spPr>
          <a:xfrm rot="10800000" flipH="1">
            <a:off x="2420232" y="3192469"/>
            <a:ext cx="1523157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Pfeil: nach rechts 46">
            <a:extLst>
              <a:ext uri="{FF2B5EF4-FFF2-40B4-BE49-F238E27FC236}">
                <a16:creationId xmlns:a16="http://schemas.microsoft.com/office/drawing/2014/main" id="{95CEDEDB-F285-455A-8EB9-7D990A4BA321}"/>
              </a:ext>
            </a:extLst>
          </p:cNvPr>
          <p:cNvSpPr/>
          <p:nvPr/>
        </p:nvSpPr>
        <p:spPr>
          <a:xfrm rot="10800000" flipH="1">
            <a:off x="2420232" y="4404850"/>
            <a:ext cx="1523157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Pfeil: nach rechts 44">
            <a:extLst>
              <a:ext uri="{FF2B5EF4-FFF2-40B4-BE49-F238E27FC236}">
                <a16:creationId xmlns:a16="http://schemas.microsoft.com/office/drawing/2014/main" id="{808225D5-188F-4A8B-B9BC-8EBEB9AFF2DE}"/>
              </a:ext>
            </a:extLst>
          </p:cNvPr>
          <p:cNvSpPr/>
          <p:nvPr/>
        </p:nvSpPr>
        <p:spPr>
          <a:xfrm rot="10800000">
            <a:off x="2586771" y="3752796"/>
            <a:ext cx="1691476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51B04D-69E8-4BFE-9F1D-951E570F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response-analyser-vera.png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D492F30-5400-4C0A-AFC2-EAC63131E272}"/>
              </a:ext>
            </a:extLst>
          </p:cNvPr>
          <p:cNvSpPr/>
          <p:nvPr/>
        </p:nvSpPr>
        <p:spPr>
          <a:xfrm>
            <a:off x="2660399" y="2950619"/>
            <a:ext cx="1272142" cy="312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Testhefte, Logins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55A149B1-1B8A-4A2A-A04E-957240767D97}"/>
              </a:ext>
            </a:extLst>
          </p:cNvPr>
          <p:cNvSpPr/>
          <p:nvPr/>
        </p:nvSpPr>
        <p:spPr>
          <a:xfrm>
            <a:off x="584462" y="2938048"/>
            <a:ext cx="1934113" cy="566909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/>
              <a:t>IQB-Testcenter</a:t>
            </a:r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18CDCB2C-10D5-4159-8DD6-1628F42C8F1C}"/>
              </a:ext>
            </a:extLst>
          </p:cNvPr>
          <p:cNvSpPr/>
          <p:nvPr/>
        </p:nvSpPr>
        <p:spPr>
          <a:xfrm>
            <a:off x="584462" y="3776488"/>
            <a:ext cx="1934114" cy="961458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/>
              <a:t>IQB-ResponseAnalyser</a:t>
            </a:r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60FA52C-E5FD-4D73-BD0B-066F95104E73}"/>
              </a:ext>
            </a:extLst>
          </p:cNvPr>
          <p:cNvSpPr/>
          <p:nvPr/>
        </p:nvSpPr>
        <p:spPr>
          <a:xfrm>
            <a:off x="3976878" y="2080260"/>
            <a:ext cx="2230163" cy="355854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de-DE" sz="1600">
              <a:solidFill>
                <a:srgbClr val="405786"/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A169B987-A534-4CB7-A1B9-63A9F65E37E4}"/>
              </a:ext>
            </a:extLst>
          </p:cNvPr>
          <p:cNvSpPr/>
          <p:nvPr/>
        </p:nvSpPr>
        <p:spPr>
          <a:xfrm>
            <a:off x="4124904" y="3182935"/>
            <a:ext cx="1878368" cy="404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>
                <a:solidFill>
                  <a:srgbClr val="405786"/>
                </a:solidFill>
              </a:rPr>
              <a:t>Transformation Antworten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6AA9122-78A1-4FE7-93DE-AF0FC8D3F9F2}"/>
              </a:ext>
            </a:extLst>
          </p:cNvPr>
          <p:cNvSpPr/>
          <p:nvPr/>
        </p:nvSpPr>
        <p:spPr>
          <a:xfrm>
            <a:off x="4124904" y="3614576"/>
            <a:ext cx="1942950" cy="504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>
                <a:solidFill>
                  <a:srgbClr val="405786"/>
                </a:solidFill>
              </a:rPr>
              <a:t>Zusammenfassung von Personendaten</a:t>
            </a: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9FDE0028-0EE4-4C14-9A21-5BA76FD49DBA}"/>
              </a:ext>
            </a:extLst>
          </p:cNvPr>
          <p:cNvSpPr/>
          <p:nvPr/>
        </p:nvSpPr>
        <p:spPr>
          <a:xfrm>
            <a:off x="4143415" y="2165014"/>
            <a:ext cx="1897087" cy="491386"/>
          </a:xfrm>
          <a:prstGeom prst="roundRect">
            <a:avLst/>
          </a:prstGeom>
          <a:solidFill>
            <a:srgbClr val="7D1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/>
              <a:t>Landesportalsystem</a:t>
            </a:r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B9FEF30-B504-4280-9D45-C365E076D20C}"/>
              </a:ext>
            </a:extLst>
          </p:cNvPr>
          <p:cNvSpPr/>
          <p:nvPr/>
        </p:nvSpPr>
        <p:spPr>
          <a:xfrm>
            <a:off x="4124904" y="4078823"/>
            <a:ext cx="1903188" cy="3370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>
                <a:solidFill>
                  <a:srgbClr val="405786"/>
                </a:solidFill>
              </a:rPr>
              <a:t>Manuelle Kodierung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11699080-069A-4BBF-89B5-ECD97458B24F}"/>
              </a:ext>
            </a:extLst>
          </p:cNvPr>
          <p:cNvSpPr/>
          <p:nvPr/>
        </p:nvSpPr>
        <p:spPr>
          <a:xfrm>
            <a:off x="4124904" y="2753811"/>
            <a:ext cx="1676258" cy="4367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>
                <a:solidFill>
                  <a:srgbClr val="405786"/>
                </a:solidFill>
              </a:rPr>
              <a:t>Zuweisung Personen zu Testheften</a:t>
            </a:r>
          </a:p>
        </p:txBody>
      </p:sp>
      <p:sp>
        <p:nvSpPr>
          <p:cNvPr id="42" name="Pfeil: nach links und rechts 41">
            <a:extLst>
              <a:ext uri="{FF2B5EF4-FFF2-40B4-BE49-F238E27FC236}">
                <a16:creationId xmlns:a16="http://schemas.microsoft.com/office/drawing/2014/main" id="{DB134E8A-B06F-4954-956A-97E7E41D151E}"/>
              </a:ext>
            </a:extLst>
          </p:cNvPr>
          <p:cNvSpPr/>
          <p:nvPr/>
        </p:nvSpPr>
        <p:spPr>
          <a:xfrm rot="10800000">
            <a:off x="2586772" y="4078823"/>
            <a:ext cx="1356617" cy="317898"/>
          </a:xfrm>
          <a:prstGeom prst="left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89E45DD8-5AC8-452A-8CF4-54F340B0E071}"/>
              </a:ext>
            </a:extLst>
          </p:cNvPr>
          <p:cNvSpPr/>
          <p:nvPr/>
        </p:nvSpPr>
        <p:spPr>
          <a:xfrm>
            <a:off x="2747770" y="3211688"/>
            <a:ext cx="912402" cy="3230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Antworten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447F9071-D586-4080-ACEF-639E7E083537}"/>
              </a:ext>
            </a:extLst>
          </p:cNvPr>
          <p:cNvSpPr/>
          <p:nvPr/>
        </p:nvSpPr>
        <p:spPr>
          <a:xfrm>
            <a:off x="2747770" y="3774276"/>
            <a:ext cx="912402" cy="317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Antworten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1E0FABDF-2317-4303-A7BD-8A147CEB1B88}"/>
              </a:ext>
            </a:extLst>
          </p:cNvPr>
          <p:cNvSpPr/>
          <p:nvPr/>
        </p:nvSpPr>
        <p:spPr>
          <a:xfrm>
            <a:off x="2672838" y="4424605"/>
            <a:ext cx="1062267" cy="3230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Skalenwerte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9E0FAA92-76A1-43B5-A73E-501E6515C764}"/>
              </a:ext>
            </a:extLst>
          </p:cNvPr>
          <p:cNvSpPr/>
          <p:nvPr/>
        </p:nvSpPr>
        <p:spPr>
          <a:xfrm>
            <a:off x="4124904" y="5305424"/>
            <a:ext cx="1903188" cy="3370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>
                <a:solidFill>
                  <a:srgbClr val="405786"/>
                </a:solidFill>
              </a:rPr>
              <a:t>Rückmeldung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0F10F39A-DEE5-417F-91DF-57AC6B95C10E}"/>
              </a:ext>
            </a:extLst>
          </p:cNvPr>
          <p:cNvSpPr/>
          <p:nvPr/>
        </p:nvSpPr>
        <p:spPr>
          <a:xfrm>
            <a:off x="4124904" y="4413742"/>
            <a:ext cx="1903188" cy="522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>
                <a:solidFill>
                  <a:srgbClr val="405786"/>
                </a:solidFill>
              </a:rPr>
              <a:t>Transformation in eigene Skalen</a:t>
            </a: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309971D6-DD97-4ABD-8807-E42A785D7F03}"/>
              </a:ext>
            </a:extLst>
          </p:cNvPr>
          <p:cNvCxnSpPr>
            <a:cxnSpLocks/>
          </p:cNvCxnSpPr>
          <p:nvPr/>
        </p:nvCxnSpPr>
        <p:spPr>
          <a:xfrm>
            <a:off x="4124904" y="3197114"/>
            <a:ext cx="1903188" cy="0"/>
          </a:xfrm>
          <a:prstGeom prst="line">
            <a:avLst/>
          </a:prstGeom>
          <a:ln>
            <a:solidFill>
              <a:srgbClr val="4057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D63E6CDF-7D22-41DD-9734-C92BED2F0A28}"/>
              </a:ext>
            </a:extLst>
          </p:cNvPr>
          <p:cNvCxnSpPr>
            <a:cxnSpLocks/>
          </p:cNvCxnSpPr>
          <p:nvPr/>
        </p:nvCxnSpPr>
        <p:spPr>
          <a:xfrm>
            <a:off x="4124904" y="4379976"/>
            <a:ext cx="1903188" cy="0"/>
          </a:xfrm>
          <a:prstGeom prst="line">
            <a:avLst/>
          </a:prstGeom>
          <a:ln>
            <a:solidFill>
              <a:srgbClr val="4057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hteck 53">
            <a:extLst>
              <a:ext uri="{FF2B5EF4-FFF2-40B4-BE49-F238E27FC236}">
                <a16:creationId xmlns:a16="http://schemas.microsoft.com/office/drawing/2014/main" id="{19E56569-12D7-4838-9C41-290707F74D50}"/>
              </a:ext>
            </a:extLst>
          </p:cNvPr>
          <p:cNvSpPr/>
          <p:nvPr/>
        </p:nvSpPr>
        <p:spPr>
          <a:xfrm>
            <a:off x="4124904" y="4822062"/>
            <a:ext cx="1903188" cy="522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>
                <a:solidFill>
                  <a:srgbClr val="405786"/>
                </a:solidFill>
              </a:rPr>
              <a:t>Aggregationen Personengruppen</a:t>
            </a:r>
          </a:p>
        </p:txBody>
      </p:sp>
      <p:sp>
        <p:nvSpPr>
          <p:cNvPr id="55" name="Rechteck: abgerundete Ecken 54">
            <a:extLst>
              <a:ext uri="{FF2B5EF4-FFF2-40B4-BE49-F238E27FC236}">
                <a16:creationId xmlns:a16="http://schemas.microsoft.com/office/drawing/2014/main" id="{D80FD2EA-39F5-4A60-B97E-43A066217136}"/>
              </a:ext>
            </a:extLst>
          </p:cNvPr>
          <p:cNvSpPr/>
          <p:nvPr/>
        </p:nvSpPr>
        <p:spPr>
          <a:xfrm>
            <a:off x="584462" y="2128711"/>
            <a:ext cx="1934113" cy="566909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/>
              <a:t>IQB-ContentHub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4F292E1B-316F-4BB3-B8A9-D3804172848E}"/>
              </a:ext>
            </a:extLst>
          </p:cNvPr>
          <p:cNvSpPr/>
          <p:nvPr/>
        </p:nvSpPr>
        <p:spPr>
          <a:xfrm>
            <a:off x="2620175" y="2179648"/>
            <a:ext cx="1130749" cy="3230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Assessment Package</a:t>
            </a:r>
            <a:endParaRPr lang="de-DE" sz="1400">
              <a:solidFill>
                <a:srgbClr val="4057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301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feil: nach rechts 55">
            <a:extLst>
              <a:ext uri="{FF2B5EF4-FFF2-40B4-BE49-F238E27FC236}">
                <a16:creationId xmlns:a16="http://schemas.microsoft.com/office/drawing/2014/main" id="{8E0770B1-0687-4AE4-A351-D91B3356585F}"/>
              </a:ext>
            </a:extLst>
          </p:cNvPr>
          <p:cNvSpPr/>
          <p:nvPr/>
        </p:nvSpPr>
        <p:spPr>
          <a:xfrm rot="10800000" flipH="1">
            <a:off x="2420232" y="2256760"/>
            <a:ext cx="1523157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Pfeil: nach rechts 52">
            <a:extLst>
              <a:ext uri="{FF2B5EF4-FFF2-40B4-BE49-F238E27FC236}">
                <a16:creationId xmlns:a16="http://schemas.microsoft.com/office/drawing/2014/main" id="{6782127F-7395-40D6-BBE4-A9C252840B16}"/>
              </a:ext>
            </a:extLst>
          </p:cNvPr>
          <p:cNvSpPr/>
          <p:nvPr/>
        </p:nvSpPr>
        <p:spPr>
          <a:xfrm rot="10800000">
            <a:off x="2583262" y="2938205"/>
            <a:ext cx="1691476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Pfeil: nach rechts 51">
            <a:extLst>
              <a:ext uri="{FF2B5EF4-FFF2-40B4-BE49-F238E27FC236}">
                <a16:creationId xmlns:a16="http://schemas.microsoft.com/office/drawing/2014/main" id="{D596ED4A-B066-47F3-883E-6B929CE5C9D4}"/>
              </a:ext>
            </a:extLst>
          </p:cNvPr>
          <p:cNvSpPr/>
          <p:nvPr/>
        </p:nvSpPr>
        <p:spPr>
          <a:xfrm rot="10800000" flipH="1">
            <a:off x="2420232" y="3192469"/>
            <a:ext cx="1523157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Pfeil: nach rechts 46">
            <a:extLst>
              <a:ext uri="{FF2B5EF4-FFF2-40B4-BE49-F238E27FC236}">
                <a16:creationId xmlns:a16="http://schemas.microsoft.com/office/drawing/2014/main" id="{95CEDEDB-F285-455A-8EB9-7D990A4BA321}"/>
              </a:ext>
            </a:extLst>
          </p:cNvPr>
          <p:cNvSpPr/>
          <p:nvPr/>
        </p:nvSpPr>
        <p:spPr>
          <a:xfrm rot="10800000" flipH="1">
            <a:off x="2420232" y="4244830"/>
            <a:ext cx="1523157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Pfeil: nach rechts 44">
            <a:extLst>
              <a:ext uri="{FF2B5EF4-FFF2-40B4-BE49-F238E27FC236}">
                <a16:creationId xmlns:a16="http://schemas.microsoft.com/office/drawing/2014/main" id="{808225D5-188F-4A8B-B9BC-8EBEB9AFF2DE}"/>
              </a:ext>
            </a:extLst>
          </p:cNvPr>
          <p:cNvSpPr/>
          <p:nvPr/>
        </p:nvSpPr>
        <p:spPr>
          <a:xfrm rot="10800000">
            <a:off x="2586771" y="3928056"/>
            <a:ext cx="1691476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51B04D-69E8-4BFE-9F1D-951E570F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response-analyser-stars.png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D492F30-5400-4C0A-AFC2-EAC63131E272}"/>
              </a:ext>
            </a:extLst>
          </p:cNvPr>
          <p:cNvSpPr/>
          <p:nvPr/>
        </p:nvSpPr>
        <p:spPr>
          <a:xfrm>
            <a:off x="2660399" y="2950619"/>
            <a:ext cx="1272142" cy="312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Testhefte, Logins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55A149B1-1B8A-4A2A-A04E-957240767D97}"/>
              </a:ext>
            </a:extLst>
          </p:cNvPr>
          <p:cNvSpPr/>
          <p:nvPr/>
        </p:nvSpPr>
        <p:spPr>
          <a:xfrm>
            <a:off x="565608" y="2938048"/>
            <a:ext cx="1952967" cy="566909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/>
              <a:t>IQB-Testcenter</a:t>
            </a:r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18CDCB2C-10D5-4159-8DD6-1628F42C8F1C}"/>
              </a:ext>
            </a:extLst>
          </p:cNvPr>
          <p:cNvSpPr/>
          <p:nvPr/>
        </p:nvSpPr>
        <p:spPr>
          <a:xfrm>
            <a:off x="565608" y="3776488"/>
            <a:ext cx="1952967" cy="961458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/>
              <a:t>IQB-ResponseAnalyser</a:t>
            </a:r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60FA52C-E5FD-4D73-BD0B-066F95104E73}"/>
              </a:ext>
            </a:extLst>
          </p:cNvPr>
          <p:cNvSpPr/>
          <p:nvPr/>
        </p:nvSpPr>
        <p:spPr>
          <a:xfrm>
            <a:off x="3976878" y="2080260"/>
            <a:ext cx="2230163" cy="2983101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de-DE" sz="1600">
              <a:solidFill>
                <a:srgbClr val="405786"/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A169B987-A534-4CB7-A1B9-63A9F65E37E4}"/>
              </a:ext>
            </a:extLst>
          </p:cNvPr>
          <p:cNvSpPr/>
          <p:nvPr/>
        </p:nvSpPr>
        <p:spPr>
          <a:xfrm>
            <a:off x="4124904" y="3182935"/>
            <a:ext cx="1878368" cy="404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>
                <a:solidFill>
                  <a:srgbClr val="405786"/>
                </a:solidFill>
              </a:rPr>
              <a:t>Transformation Antworten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6AA9122-78A1-4FE7-93DE-AF0FC8D3F9F2}"/>
              </a:ext>
            </a:extLst>
          </p:cNvPr>
          <p:cNvSpPr/>
          <p:nvPr/>
        </p:nvSpPr>
        <p:spPr>
          <a:xfrm>
            <a:off x="4124904" y="3820316"/>
            <a:ext cx="1942950" cy="504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>
                <a:solidFill>
                  <a:srgbClr val="405786"/>
                </a:solidFill>
              </a:rPr>
              <a:t>Zusammenfassung von Personendaten</a:t>
            </a: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9FDE0028-0EE4-4C14-9A21-5BA76FD49DBA}"/>
              </a:ext>
            </a:extLst>
          </p:cNvPr>
          <p:cNvSpPr/>
          <p:nvPr/>
        </p:nvSpPr>
        <p:spPr>
          <a:xfrm>
            <a:off x="4143415" y="2165014"/>
            <a:ext cx="1897087" cy="491386"/>
          </a:xfrm>
          <a:prstGeom prst="roundRect">
            <a:avLst/>
          </a:prstGeom>
          <a:solidFill>
            <a:srgbClr val="7D1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/>
              <a:t>Landesportalsystem</a:t>
            </a:r>
            <a:endParaRPr lang="de-DE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11699080-069A-4BBF-89B5-ECD97458B24F}"/>
              </a:ext>
            </a:extLst>
          </p:cNvPr>
          <p:cNvSpPr/>
          <p:nvPr/>
        </p:nvSpPr>
        <p:spPr>
          <a:xfrm>
            <a:off x="4124904" y="2753811"/>
            <a:ext cx="1676258" cy="4367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>
                <a:solidFill>
                  <a:srgbClr val="405786"/>
                </a:solidFill>
              </a:rPr>
              <a:t>Zuweisung Personen zu Testheften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89E45DD8-5AC8-452A-8CF4-54F340B0E071}"/>
              </a:ext>
            </a:extLst>
          </p:cNvPr>
          <p:cNvSpPr/>
          <p:nvPr/>
        </p:nvSpPr>
        <p:spPr>
          <a:xfrm>
            <a:off x="2747770" y="3211688"/>
            <a:ext cx="912402" cy="3230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Antworten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447F9071-D586-4080-ACEF-639E7E083537}"/>
              </a:ext>
            </a:extLst>
          </p:cNvPr>
          <p:cNvSpPr/>
          <p:nvPr/>
        </p:nvSpPr>
        <p:spPr>
          <a:xfrm>
            <a:off x="2747770" y="3949536"/>
            <a:ext cx="912402" cy="317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Antworten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1E0FABDF-2317-4303-A7BD-8A147CEB1B88}"/>
              </a:ext>
            </a:extLst>
          </p:cNvPr>
          <p:cNvSpPr/>
          <p:nvPr/>
        </p:nvSpPr>
        <p:spPr>
          <a:xfrm>
            <a:off x="2672838" y="4264585"/>
            <a:ext cx="1062267" cy="3230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Skalenwerte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9E0FAA92-76A1-43B5-A73E-501E6515C764}"/>
              </a:ext>
            </a:extLst>
          </p:cNvPr>
          <p:cNvSpPr/>
          <p:nvPr/>
        </p:nvSpPr>
        <p:spPr>
          <a:xfrm>
            <a:off x="4124904" y="4726304"/>
            <a:ext cx="1903188" cy="3370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>
                <a:solidFill>
                  <a:srgbClr val="405786"/>
                </a:solidFill>
              </a:rPr>
              <a:t>Rückmeldung</a:t>
            </a: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309971D6-DD97-4ABD-8807-E42A785D7F03}"/>
              </a:ext>
            </a:extLst>
          </p:cNvPr>
          <p:cNvCxnSpPr>
            <a:cxnSpLocks/>
          </p:cNvCxnSpPr>
          <p:nvPr/>
        </p:nvCxnSpPr>
        <p:spPr>
          <a:xfrm>
            <a:off x="4124904" y="3197114"/>
            <a:ext cx="1903188" cy="0"/>
          </a:xfrm>
          <a:prstGeom prst="line">
            <a:avLst/>
          </a:prstGeom>
          <a:ln>
            <a:solidFill>
              <a:srgbClr val="4057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D63E6CDF-7D22-41DD-9734-C92BED2F0A28}"/>
              </a:ext>
            </a:extLst>
          </p:cNvPr>
          <p:cNvCxnSpPr>
            <a:cxnSpLocks/>
          </p:cNvCxnSpPr>
          <p:nvPr/>
        </p:nvCxnSpPr>
        <p:spPr>
          <a:xfrm>
            <a:off x="4124904" y="4250436"/>
            <a:ext cx="1903188" cy="0"/>
          </a:xfrm>
          <a:prstGeom prst="line">
            <a:avLst/>
          </a:prstGeom>
          <a:ln>
            <a:solidFill>
              <a:srgbClr val="4057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hteck 53">
            <a:extLst>
              <a:ext uri="{FF2B5EF4-FFF2-40B4-BE49-F238E27FC236}">
                <a16:creationId xmlns:a16="http://schemas.microsoft.com/office/drawing/2014/main" id="{19E56569-12D7-4838-9C41-290707F74D50}"/>
              </a:ext>
            </a:extLst>
          </p:cNvPr>
          <p:cNvSpPr/>
          <p:nvPr/>
        </p:nvSpPr>
        <p:spPr>
          <a:xfrm>
            <a:off x="4124904" y="4242942"/>
            <a:ext cx="1903188" cy="522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>
                <a:solidFill>
                  <a:srgbClr val="405786"/>
                </a:solidFill>
              </a:rPr>
              <a:t>Aggregationen Personengruppen</a:t>
            </a:r>
          </a:p>
        </p:txBody>
      </p:sp>
      <p:sp>
        <p:nvSpPr>
          <p:cNvPr id="55" name="Rechteck: abgerundete Ecken 54">
            <a:extLst>
              <a:ext uri="{FF2B5EF4-FFF2-40B4-BE49-F238E27FC236}">
                <a16:creationId xmlns:a16="http://schemas.microsoft.com/office/drawing/2014/main" id="{D80FD2EA-39F5-4A60-B97E-43A066217136}"/>
              </a:ext>
            </a:extLst>
          </p:cNvPr>
          <p:cNvSpPr/>
          <p:nvPr/>
        </p:nvSpPr>
        <p:spPr>
          <a:xfrm>
            <a:off x="565608" y="2136331"/>
            <a:ext cx="1952967" cy="566909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/>
              <a:t>IQB-ContentHub</a:t>
            </a:r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4F292E1B-316F-4BB3-B8A9-D3804172848E}"/>
              </a:ext>
            </a:extLst>
          </p:cNvPr>
          <p:cNvSpPr/>
          <p:nvPr/>
        </p:nvSpPr>
        <p:spPr>
          <a:xfrm>
            <a:off x="2620175" y="2179648"/>
            <a:ext cx="1130749" cy="3230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Assessment Package</a:t>
            </a:r>
            <a:endParaRPr lang="de-DE" sz="1400">
              <a:solidFill>
                <a:srgbClr val="4057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817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65118E-31D4-4331-9C25-009701848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booklet-structure.png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E558467-B3F4-4A05-828A-3DD593F7168D}"/>
              </a:ext>
            </a:extLst>
          </p:cNvPr>
          <p:cNvSpPr/>
          <p:nvPr/>
        </p:nvSpPr>
        <p:spPr>
          <a:xfrm>
            <a:off x="650959" y="2604038"/>
            <a:ext cx="1567585" cy="3236692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600">
                <a:solidFill>
                  <a:srgbClr val="405786"/>
                </a:solidFill>
              </a:rPr>
              <a:t>Testheft 1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E3D1E40-06BD-4A0F-92D8-C2261B665773}"/>
              </a:ext>
            </a:extLst>
          </p:cNvPr>
          <p:cNvSpPr/>
          <p:nvPr/>
        </p:nvSpPr>
        <p:spPr>
          <a:xfrm>
            <a:off x="781843" y="2981853"/>
            <a:ext cx="1305816" cy="1290906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2000" b="1">
                <a:solidFill>
                  <a:schemeClr val="bg1"/>
                </a:solidFill>
              </a:rPr>
              <a:t>Modul 1</a:t>
            </a:r>
          </a:p>
          <a:p>
            <a:pPr algn="ctr"/>
            <a:endParaRPr lang="de-DE" sz="1000">
              <a:solidFill>
                <a:schemeClr val="bg1"/>
              </a:solidFill>
            </a:endParaRPr>
          </a:p>
          <a:p>
            <a:pPr algn="ctr"/>
            <a:r>
              <a:rPr lang="de-DE" sz="1600">
                <a:solidFill>
                  <a:schemeClr val="bg1"/>
                </a:solidFill>
              </a:rPr>
              <a:t>Unit A</a:t>
            </a:r>
          </a:p>
          <a:p>
            <a:pPr algn="ctr"/>
            <a:r>
              <a:rPr lang="de-DE" sz="1600">
                <a:solidFill>
                  <a:schemeClr val="bg1"/>
                </a:solidFill>
              </a:rPr>
              <a:t>Unit B</a:t>
            </a:r>
          </a:p>
          <a:p>
            <a:pPr algn="ctr"/>
            <a:r>
              <a:rPr lang="de-DE" sz="1600">
                <a:solidFill>
                  <a:schemeClr val="bg1"/>
                </a:solidFill>
              </a:rPr>
              <a:t>Unit C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8DA2B19-A799-499D-9544-537F1372B927}"/>
              </a:ext>
            </a:extLst>
          </p:cNvPr>
          <p:cNvSpPr/>
          <p:nvPr/>
        </p:nvSpPr>
        <p:spPr>
          <a:xfrm>
            <a:off x="781843" y="4379988"/>
            <a:ext cx="1305816" cy="1290906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2000" b="1">
                <a:solidFill>
                  <a:schemeClr val="bg1"/>
                </a:solidFill>
              </a:rPr>
              <a:t>Modul 2</a:t>
            </a:r>
          </a:p>
          <a:p>
            <a:pPr algn="ctr"/>
            <a:endParaRPr lang="de-DE" sz="1000">
              <a:solidFill>
                <a:schemeClr val="bg1"/>
              </a:solidFill>
            </a:endParaRPr>
          </a:p>
          <a:p>
            <a:pPr algn="ctr"/>
            <a:r>
              <a:rPr lang="de-DE" sz="1600">
                <a:solidFill>
                  <a:schemeClr val="bg1"/>
                </a:solidFill>
              </a:rPr>
              <a:t>Unit D</a:t>
            </a:r>
          </a:p>
          <a:p>
            <a:pPr algn="ctr"/>
            <a:r>
              <a:rPr lang="de-DE" sz="1600">
                <a:solidFill>
                  <a:schemeClr val="bg1"/>
                </a:solidFill>
              </a:rPr>
              <a:t>Unit E</a:t>
            </a:r>
          </a:p>
          <a:p>
            <a:pPr algn="ctr"/>
            <a:r>
              <a:rPr lang="de-DE" sz="1600">
                <a:solidFill>
                  <a:schemeClr val="bg1"/>
                </a:solidFill>
              </a:rPr>
              <a:t>Unit F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A485D1C-EC3D-4C7C-8EDE-133F11ED8FF4}"/>
              </a:ext>
            </a:extLst>
          </p:cNvPr>
          <p:cNvSpPr/>
          <p:nvPr/>
        </p:nvSpPr>
        <p:spPr>
          <a:xfrm>
            <a:off x="4047897" y="2604038"/>
            <a:ext cx="1567585" cy="3236692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600">
                <a:solidFill>
                  <a:srgbClr val="405786"/>
                </a:solidFill>
              </a:rPr>
              <a:t>Testheft 2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DF4EF8D-0812-476F-9662-390793A58462}"/>
              </a:ext>
            </a:extLst>
          </p:cNvPr>
          <p:cNvSpPr/>
          <p:nvPr/>
        </p:nvSpPr>
        <p:spPr>
          <a:xfrm>
            <a:off x="4178781" y="2981853"/>
            <a:ext cx="1305816" cy="1290906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2000" b="1">
                <a:solidFill>
                  <a:schemeClr val="bg1"/>
                </a:solidFill>
              </a:rPr>
              <a:t>Modul 1</a:t>
            </a:r>
          </a:p>
          <a:p>
            <a:pPr algn="ctr"/>
            <a:endParaRPr lang="de-DE" sz="1000">
              <a:solidFill>
                <a:schemeClr val="bg1"/>
              </a:solidFill>
            </a:endParaRPr>
          </a:p>
          <a:p>
            <a:pPr algn="ctr"/>
            <a:r>
              <a:rPr lang="de-DE" sz="1600">
                <a:solidFill>
                  <a:schemeClr val="bg1"/>
                </a:solidFill>
              </a:rPr>
              <a:t>Unit A</a:t>
            </a:r>
          </a:p>
          <a:p>
            <a:pPr algn="ctr"/>
            <a:r>
              <a:rPr lang="de-DE" sz="1600">
                <a:solidFill>
                  <a:schemeClr val="bg1"/>
                </a:solidFill>
              </a:rPr>
              <a:t>Unit B</a:t>
            </a:r>
          </a:p>
          <a:p>
            <a:pPr algn="ctr"/>
            <a:r>
              <a:rPr lang="de-DE" sz="1600">
                <a:solidFill>
                  <a:schemeClr val="bg1"/>
                </a:solidFill>
              </a:rPr>
              <a:t>Unit C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393D6E7-539A-4437-9A43-0DFB51EBC4A3}"/>
              </a:ext>
            </a:extLst>
          </p:cNvPr>
          <p:cNvSpPr/>
          <p:nvPr/>
        </p:nvSpPr>
        <p:spPr>
          <a:xfrm>
            <a:off x="4178781" y="4379988"/>
            <a:ext cx="1305816" cy="1290906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2000" b="1">
                <a:solidFill>
                  <a:schemeClr val="bg1"/>
                </a:solidFill>
              </a:rPr>
              <a:t>Modul 3</a:t>
            </a:r>
          </a:p>
          <a:p>
            <a:pPr algn="ctr"/>
            <a:endParaRPr lang="de-DE" sz="1000">
              <a:solidFill>
                <a:schemeClr val="bg1"/>
              </a:solidFill>
            </a:endParaRPr>
          </a:p>
          <a:p>
            <a:pPr algn="ctr"/>
            <a:r>
              <a:rPr lang="de-DE" sz="1600">
                <a:solidFill>
                  <a:schemeClr val="bg1"/>
                </a:solidFill>
              </a:rPr>
              <a:t>Unit D</a:t>
            </a:r>
          </a:p>
          <a:p>
            <a:pPr algn="ctr"/>
            <a:r>
              <a:rPr lang="de-DE" sz="1600">
                <a:solidFill>
                  <a:schemeClr val="bg1"/>
                </a:solidFill>
              </a:rPr>
              <a:t>Unit G</a:t>
            </a:r>
          </a:p>
          <a:p>
            <a:pPr algn="ctr"/>
            <a:r>
              <a:rPr lang="de-DE" sz="1600">
                <a:solidFill>
                  <a:schemeClr val="bg1"/>
                </a:solidFill>
              </a:rPr>
              <a:t>Unit H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B0677E0-1E08-425A-B3AB-6ED4E6D704E7}"/>
              </a:ext>
            </a:extLst>
          </p:cNvPr>
          <p:cNvSpPr/>
          <p:nvPr/>
        </p:nvSpPr>
        <p:spPr>
          <a:xfrm>
            <a:off x="2349428" y="2604038"/>
            <a:ext cx="1567585" cy="3236692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600" b="1">
                <a:solidFill>
                  <a:srgbClr val="405786"/>
                </a:solidFill>
              </a:rPr>
              <a:t>Items</a:t>
            </a:r>
          </a:p>
          <a:p>
            <a:pPr algn="ctr"/>
            <a:r>
              <a:rPr lang="de-DE" sz="1600">
                <a:solidFill>
                  <a:srgbClr val="405786"/>
                </a:solidFill>
              </a:rPr>
              <a:t>A1</a:t>
            </a:r>
          </a:p>
          <a:p>
            <a:pPr algn="ctr"/>
            <a:r>
              <a:rPr lang="de-DE" sz="1600">
                <a:solidFill>
                  <a:srgbClr val="405786"/>
                </a:solidFill>
              </a:rPr>
              <a:t>A2</a:t>
            </a:r>
          </a:p>
          <a:p>
            <a:pPr algn="ctr"/>
            <a:r>
              <a:rPr lang="de-DE" sz="1600">
                <a:solidFill>
                  <a:srgbClr val="405786"/>
                </a:solidFill>
              </a:rPr>
              <a:t>B1</a:t>
            </a:r>
          </a:p>
          <a:p>
            <a:pPr algn="ctr"/>
            <a:r>
              <a:rPr lang="de-DE" sz="1600">
                <a:solidFill>
                  <a:srgbClr val="405786"/>
                </a:solidFill>
              </a:rPr>
              <a:t>B2</a:t>
            </a:r>
          </a:p>
          <a:p>
            <a:pPr algn="ctr"/>
            <a:r>
              <a:rPr lang="de-DE" sz="1600">
                <a:solidFill>
                  <a:srgbClr val="405786"/>
                </a:solidFill>
              </a:rPr>
              <a:t>C1</a:t>
            </a:r>
          </a:p>
          <a:p>
            <a:pPr algn="ctr"/>
            <a:r>
              <a:rPr lang="de-DE" sz="1600">
                <a:solidFill>
                  <a:srgbClr val="405786"/>
                </a:solidFill>
              </a:rPr>
              <a:t>D1</a:t>
            </a:r>
          </a:p>
          <a:p>
            <a:pPr algn="ctr"/>
            <a:r>
              <a:rPr lang="de-DE" sz="1600">
                <a:solidFill>
                  <a:srgbClr val="405786"/>
                </a:solidFill>
              </a:rPr>
              <a:t>D2</a:t>
            </a:r>
          </a:p>
          <a:p>
            <a:pPr algn="ctr"/>
            <a:r>
              <a:rPr lang="de-DE" sz="1600">
                <a:solidFill>
                  <a:srgbClr val="405786"/>
                </a:solidFill>
              </a:rPr>
              <a:t>E1</a:t>
            </a:r>
          </a:p>
          <a:p>
            <a:pPr algn="ctr"/>
            <a:r>
              <a:rPr lang="de-DE" sz="1600">
                <a:solidFill>
                  <a:srgbClr val="405786"/>
                </a:solidFill>
              </a:rPr>
              <a:t>F1</a:t>
            </a:r>
          </a:p>
          <a:p>
            <a:pPr algn="ctr"/>
            <a:r>
              <a:rPr lang="de-DE" sz="1600">
                <a:solidFill>
                  <a:srgbClr val="405786"/>
                </a:solidFill>
              </a:rPr>
              <a:t>G1</a:t>
            </a:r>
          </a:p>
          <a:p>
            <a:pPr algn="ctr"/>
            <a:r>
              <a:rPr lang="de-DE" sz="1600">
                <a:solidFill>
                  <a:srgbClr val="405786"/>
                </a:solidFill>
              </a:rPr>
              <a:t>H1</a:t>
            </a:r>
          </a:p>
          <a:p>
            <a:pPr algn="ctr"/>
            <a:r>
              <a:rPr lang="de-DE" sz="1600">
                <a:solidFill>
                  <a:srgbClr val="405786"/>
                </a:solidFill>
              </a:rPr>
              <a:t>H2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2D2D9AE-8439-4737-8314-DAAC6038DCE5}"/>
              </a:ext>
            </a:extLst>
          </p:cNvPr>
          <p:cNvCxnSpPr>
            <a:cxnSpLocks/>
          </p:cNvCxnSpPr>
          <p:nvPr/>
        </p:nvCxnSpPr>
        <p:spPr>
          <a:xfrm flipV="1">
            <a:off x="1811494" y="3033166"/>
            <a:ext cx="1100092" cy="587793"/>
          </a:xfrm>
          <a:prstGeom prst="line">
            <a:avLst/>
          </a:prstGeom>
          <a:ln w="12700">
            <a:solidFill>
              <a:srgbClr val="D92F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F5B54DDE-64D6-48FC-AA0C-8AC6EC280DB2}"/>
              </a:ext>
            </a:extLst>
          </p:cNvPr>
          <p:cNvCxnSpPr>
            <a:cxnSpLocks/>
          </p:cNvCxnSpPr>
          <p:nvPr/>
        </p:nvCxnSpPr>
        <p:spPr>
          <a:xfrm flipV="1">
            <a:off x="1811494" y="3275280"/>
            <a:ext cx="1100092" cy="338909"/>
          </a:xfrm>
          <a:prstGeom prst="line">
            <a:avLst/>
          </a:prstGeom>
          <a:ln w="12700">
            <a:solidFill>
              <a:srgbClr val="D92F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7676A310-B9D1-4130-8172-6409612596A7}"/>
              </a:ext>
            </a:extLst>
          </p:cNvPr>
          <p:cNvCxnSpPr>
            <a:cxnSpLocks/>
          </p:cNvCxnSpPr>
          <p:nvPr/>
        </p:nvCxnSpPr>
        <p:spPr>
          <a:xfrm flipV="1">
            <a:off x="1805940" y="3521922"/>
            <a:ext cx="1105646" cy="342053"/>
          </a:xfrm>
          <a:prstGeom prst="line">
            <a:avLst/>
          </a:prstGeom>
          <a:ln w="12700">
            <a:solidFill>
              <a:srgbClr val="D92F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0D4501E8-A547-407F-A316-96E18564B4D9}"/>
              </a:ext>
            </a:extLst>
          </p:cNvPr>
          <p:cNvCxnSpPr>
            <a:cxnSpLocks/>
          </p:cNvCxnSpPr>
          <p:nvPr/>
        </p:nvCxnSpPr>
        <p:spPr>
          <a:xfrm flipV="1">
            <a:off x="1811494" y="4737606"/>
            <a:ext cx="1100092" cy="512486"/>
          </a:xfrm>
          <a:prstGeom prst="line">
            <a:avLst/>
          </a:prstGeom>
          <a:ln w="12700">
            <a:solidFill>
              <a:srgbClr val="D92F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907D990-9745-423D-A714-FC6614CA62B2}"/>
              </a:ext>
            </a:extLst>
          </p:cNvPr>
          <p:cNvCxnSpPr>
            <a:cxnSpLocks/>
          </p:cNvCxnSpPr>
          <p:nvPr/>
        </p:nvCxnSpPr>
        <p:spPr>
          <a:xfrm flipV="1">
            <a:off x="1801099" y="3761391"/>
            <a:ext cx="1110487" cy="102585"/>
          </a:xfrm>
          <a:prstGeom prst="line">
            <a:avLst/>
          </a:prstGeom>
          <a:ln w="12700">
            <a:solidFill>
              <a:srgbClr val="D92F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6B1B72B2-BD02-4589-B507-6AFC98E233DB}"/>
              </a:ext>
            </a:extLst>
          </p:cNvPr>
          <p:cNvCxnSpPr>
            <a:cxnSpLocks/>
          </p:cNvCxnSpPr>
          <p:nvPr/>
        </p:nvCxnSpPr>
        <p:spPr>
          <a:xfrm flipV="1">
            <a:off x="1811494" y="4006719"/>
            <a:ext cx="1100092" cy="90022"/>
          </a:xfrm>
          <a:prstGeom prst="line">
            <a:avLst/>
          </a:prstGeom>
          <a:ln w="12700">
            <a:solidFill>
              <a:srgbClr val="D92F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BA077487-7D9A-4C38-B805-7E31F859DFC9}"/>
              </a:ext>
            </a:extLst>
          </p:cNvPr>
          <p:cNvCxnSpPr>
            <a:cxnSpLocks/>
          </p:cNvCxnSpPr>
          <p:nvPr/>
        </p:nvCxnSpPr>
        <p:spPr>
          <a:xfrm flipV="1">
            <a:off x="1801099" y="4239484"/>
            <a:ext cx="1110487" cy="762576"/>
          </a:xfrm>
          <a:prstGeom prst="line">
            <a:avLst/>
          </a:prstGeom>
          <a:ln w="12700">
            <a:solidFill>
              <a:srgbClr val="D92F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9EB0279D-8E8D-4988-8297-D998AA874313}"/>
              </a:ext>
            </a:extLst>
          </p:cNvPr>
          <p:cNvCxnSpPr>
            <a:cxnSpLocks/>
          </p:cNvCxnSpPr>
          <p:nvPr/>
        </p:nvCxnSpPr>
        <p:spPr>
          <a:xfrm flipV="1">
            <a:off x="1796539" y="4504335"/>
            <a:ext cx="1115047" cy="497725"/>
          </a:xfrm>
          <a:prstGeom prst="line">
            <a:avLst/>
          </a:prstGeom>
          <a:ln w="12700">
            <a:solidFill>
              <a:srgbClr val="D92F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0B108F28-E346-409E-819D-E7C8BC5163B2}"/>
              </a:ext>
            </a:extLst>
          </p:cNvPr>
          <p:cNvCxnSpPr>
            <a:cxnSpLocks/>
          </p:cNvCxnSpPr>
          <p:nvPr/>
        </p:nvCxnSpPr>
        <p:spPr>
          <a:xfrm flipV="1">
            <a:off x="1805940" y="4987579"/>
            <a:ext cx="1101087" cy="467391"/>
          </a:xfrm>
          <a:prstGeom prst="line">
            <a:avLst/>
          </a:prstGeom>
          <a:ln w="12700">
            <a:solidFill>
              <a:srgbClr val="D92F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BE68EBDF-3F0E-4840-B20F-8D94C18DFF61}"/>
              </a:ext>
            </a:extLst>
          </p:cNvPr>
          <p:cNvCxnSpPr>
            <a:cxnSpLocks/>
          </p:cNvCxnSpPr>
          <p:nvPr/>
        </p:nvCxnSpPr>
        <p:spPr>
          <a:xfrm flipH="1" flipV="1">
            <a:off x="3298090" y="3023530"/>
            <a:ext cx="1181082" cy="588963"/>
          </a:xfrm>
          <a:prstGeom prst="line">
            <a:avLst/>
          </a:prstGeom>
          <a:ln w="12700">
            <a:solidFill>
              <a:srgbClr val="D92F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1F2EB59A-7A07-4FB7-9F1C-C614E926D90A}"/>
              </a:ext>
            </a:extLst>
          </p:cNvPr>
          <p:cNvCxnSpPr>
            <a:cxnSpLocks/>
          </p:cNvCxnSpPr>
          <p:nvPr/>
        </p:nvCxnSpPr>
        <p:spPr>
          <a:xfrm flipH="1" flipV="1">
            <a:off x="3298092" y="3267668"/>
            <a:ext cx="1181080" cy="346521"/>
          </a:xfrm>
          <a:prstGeom prst="line">
            <a:avLst/>
          </a:prstGeom>
          <a:ln w="12700">
            <a:solidFill>
              <a:srgbClr val="D92F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FC95D828-90F6-4E54-BCA9-CC499045CA14}"/>
              </a:ext>
            </a:extLst>
          </p:cNvPr>
          <p:cNvCxnSpPr>
            <a:cxnSpLocks/>
          </p:cNvCxnSpPr>
          <p:nvPr/>
        </p:nvCxnSpPr>
        <p:spPr>
          <a:xfrm flipH="1" flipV="1">
            <a:off x="3302653" y="3755071"/>
            <a:ext cx="1167965" cy="114388"/>
          </a:xfrm>
          <a:prstGeom prst="line">
            <a:avLst/>
          </a:prstGeom>
          <a:ln w="12700">
            <a:solidFill>
              <a:srgbClr val="D92F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3C522A01-8017-4B74-8A83-E902ABB1745B}"/>
              </a:ext>
            </a:extLst>
          </p:cNvPr>
          <p:cNvCxnSpPr>
            <a:cxnSpLocks/>
          </p:cNvCxnSpPr>
          <p:nvPr/>
        </p:nvCxnSpPr>
        <p:spPr>
          <a:xfrm flipH="1" flipV="1">
            <a:off x="3302653" y="4234786"/>
            <a:ext cx="1167965" cy="767274"/>
          </a:xfrm>
          <a:prstGeom prst="line">
            <a:avLst/>
          </a:prstGeom>
          <a:ln w="12700">
            <a:solidFill>
              <a:srgbClr val="D92F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672C0FD4-B873-4F4F-9B16-CC59CB990DCC}"/>
              </a:ext>
            </a:extLst>
          </p:cNvPr>
          <p:cNvCxnSpPr>
            <a:cxnSpLocks/>
          </p:cNvCxnSpPr>
          <p:nvPr/>
        </p:nvCxnSpPr>
        <p:spPr>
          <a:xfrm flipH="1" flipV="1">
            <a:off x="3298091" y="3509842"/>
            <a:ext cx="1172527" cy="367900"/>
          </a:xfrm>
          <a:prstGeom prst="line">
            <a:avLst/>
          </a:prstGeom>
          <a:ln w="12700">
            <a:solidFill>
              <a:srgbClr val="D92F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A4A6EA9C-3E5E-4A85-A57C-DDFF20B2DE1B}"/>
              </a:ext>
            </a:extLst>
          </p:cNvPr>
          <p:cNvCxnSpPr>
            <a:cxnSpLocks/>
          </p:cNvCxnSpPr>
          <p:nvPr/>
        </p:nvCxnSpPr>
        <p:spPr>
          <a:xfrm flipH="1" flipV="1">
            <a:off x="3302652" y="3996155"/>
            <a:ext cx="1176520" cy="100586"/>
          </a:xfrm>
          <a:prstGeom prst="line">
            <a:avLst/>
          </a:prstGeom>
          <a:ln w="12700">
            <a:solidFill>
              <a:srgbClr val="D92F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11BB2140-0D68-4A55-BEC3-FBBDC76B3FC0}"/>
              </a:ext>
            </a:extLst>
          </p:cNvPr>
          <p:cNvCxnSpPr>
            <a:cxnSpLocks/>
          </p:cNvCxnSpPr>
          <p:nvPr/>
        </p:nvCxnSpPr>
        <p:spPr>
          <a:xfrm flipH="1" flipV="1">
            <a:off x="3298090" y="5215758"/>
            <a:ext cx="1213585" cy="22957"/>
          </a:xfrm>
          <a:prstGeom prst="line">
            <a:avLst/>
          </a:prstGeom>
          <a:ln w="12700">
            <a:solidFill>
              <a:srgbClr val="D92F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F0D5928D-7D1B-4A45-8188-41A8AAB2DBEA}"/>
              </a:ext>
            </a:extLst>
          </p:cNvPr>
          <p:cNvCxnSpPr>
            <a:cxnSpLocks/>
          </p:cNvCxnSpPr>
          <p:nvPr/>
        </p:nvCxnSpPr>
        <p:spPr>
          <a:xfrm flipH="1" flipV="1">
            <a:off x="3302652" y="5450709"/>
            <a:ext cx="1209024" cy="65536"/>
          </a:xfrm>
          <a:prstGeom prst="line">
            <a:avLst/>
          </a:prstGeom>
          <a:ln w="12700">
            <a:solidFill>
              <a:srgbClr val="D92F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EE0F9FB7-847B-4C98-BB72-02A2DA9F1407}"/>
              </a:ext>
            </a:extLst>
          </p:cNvPr>
          <p:cNvCxnSpPr>
            <a:cxnSpLocks/>
          </p:cNvCxnSpPr>
          <p:nvPr/>
        </p:nvCxnSpPr>
        <p:spPr>
          <a:xfrm flipH="1">
            <a:off x="3302652" y="5510690"/>
            <a:ext cx="1209023" cy="176567"/>
          </a:xfrm>
          <a:prstGeom prst="line">
            <a:avLst/>
          </a:prstGeom>
          <a:ln w="12700">
            <a:solidFill>
              <a:srgbClr val="D92F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59B7043D-7BF0-413E-AA4E-1BB4DAD71BE6}"/>
              </a:ext>
            </a:extLst>
          </p:cNvPr>
          <p:cNvCxnSpPr>
            <a:cxnSpLocks/>
          </p:cNvCxnSpPr>
          <p:nvPr/>
        </p:nvCxnSpPr>
        <p:spPr>
          <a:xfrm flipH="1" flipV="1">
            <a:off x="3302653" y="4503550"/>
            <a:ext cx="1176519" cy="498510"/>
          </a:xfrm>
          <a:prstGeom prst="line">
            <a:avLst/>
          </a:prstGeom>
          <a:ln w="12700">
            <a:solidFill>
              <a:srgbClr val="D92F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731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feil: nach links und rechts 10">
            <a:extLst>
              <a:ext uri="{FF2B5EF4-FFF2-40B4-BE49-F238E27FC236}">
                <a16:creationId xmlns:a16="http://schemas.microsoft.com/office/drawing/2014/main" id="{B373BB0E-CC21-4468-A11B-DA3B56985F35}"/>
              </a:ext>
            </a:extLst>
          </p:cNvPr>
          <p:cNvSpPr/>
          <p:nvPr/>
        </p:nvSpPr>
        <p:spPr>
          <a:xfrm rot="3850881">
            <a:off x="1968300" y="2627138"/>
            <a:ext cx="933542" cy="317898"/>
          </a:xfrm>
          <a:prstGeom prst="left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9664993-9ED6-4670-922B-6DCFB75DA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content-hub1.png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19FAA75-2688-4E1B-A8A9-97CF000C9D32}"/>
              </a:ext>
            </a:extLst>
          </p:cNvPr>
          <p:cNvSpPr/>
          <p:nvPr/>
        </p:nvSpPr>
        <p:spPr>
          <a:xfrm>
            <a:off x="1868815" y="2604283"/>
            <a:ext cx="912402" cy="2565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Aufgaben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22" name="Pfeil: nach rechts 21">
            <a:extLst>
              <a:ext uri="{FF2B5EF4-FFF2-40B4-BE49-F238E27FC236}">
                <a16:creationId xmlns:a16="http://schemas.microsoft.com/office/drawing/2014/main" id="{F0ED9A78-65FF-4184-87C8-D2B65CA89911}"/>
              </a:ext>
            </a:extLst>
          </p:cNvPr>
          <p:cNvSpPr/>
          <p:nvPr/>
        </p:nvSpPr>
        <p:spPr>
          <a:xfrm>
            <a:off x="2435072" y="5342284"/>
            <a:ext cx="1349261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Pfeil: nach links 24">
            <a:extLst>
              <a:ext uri="{FF2B5EF4-FFF2-40B4-BE49-F238E27FC236}">
                <a16:creationId xmlns:a16="http://schemas.microsoft.com/office/drawing/2014/main" id="{753FC8FE-F56E-45C4-9E72-DDBA99836111}"/>
              </a:ext>
            </a:extLst>
          </p:cNvPr>
          <p:cNvSpPr/>
          <p:nvPr/>
        </p:nvSpPr>
        <p:spPr>
          <a:xfrm rot="17749119" flipH="1">
            <a:off x="3210439" y="2686662"/>
            <a:ext cx="1065792" cy="317898"/>
          </a:xfrm>
          <a:prstGeom prst="lef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1D19F10A-674D-4908-9A18-FDAD3BD7BEDC}"/>
              </a:ext>
            </a:extLst>
          </p:cNvPr>
          <p:cNvSpPr/>
          <p:nvPr/>
        </p:nvSpPr>
        <p:spPr>
          <a:xfrm>
            <a:off x="1365847" y="2044000"/>
            <a:ext cx="1676257" cy="318109"/>
          </a:xfrm>
          <a:prstGeom prst="roundRect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IQB-Studio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2B3200A0-8EF8-4FFF-B02C-41172859B333}"/>
              </a:ext>
            </a:extLst>
          </p:cNvPr>
          <p:cNvSpPr/>
          <p:nvPr/>
        </p:nvSpPr>
        <p:spPr>
          <a:xfrm>
            <a:off x="3408092" y="2038168"/>
            <a:ext cx="1800154" cy="31810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tx1"/>
                </a:solidFill>
              </a:rPr>
              <a:t>Länder-Durchführung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96BB776-D63D-43FB-B470-D03AEB0699BD}"/>
              </a:ext>
            </a:extLst>
          </p:cNvPr>
          <p:cNvSpPr/>
          <p:nvPr/>
        </p:nvSpPr>
        <p:spPr>
          <a:xfrm>
            <a:off x="3449000" y="2578246"/>
            <a:ext cx="1294330" cy="466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Assessment Package</a:t>
            </a:r>
          </a:p>
        </p:txBody>
      </p:sp>
      <p:sp>
        <p:nvSpPr>
          <p:cNvPr id="29" name="Pfeil: nach rechts 28">
            <a:extLst>
              <a:ext uri="{FF2B5EF4-FFF2-40B4-BE49-F238E27FC236}">
                <a16:creationId xmlns:a16="http://schemas.microsoft.com/office/drawing/2014/main" id="{45D89B47-52C5-4AD1-841B-8C552476B40A}"/>
              </a:ext>
            </a:extLst>
          </p:cNvPr>
          <p:cNvSpPr/>
          <p:nvPr/>
        </p:nvSpPr>
        <p:spPr>
          <a:xfrm rot="3850881">
            <a:off x="2651901" y="4344640"/>
            <a:ext cx="1819310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Pfeil: nach rechts 29">
            <a:extLst>
              <a:ext uri="{FF2B5EF4-FFF2-40B4-BE49-F238E27FC236}">
                <a16:creationId xmlns:a16="http://schemas.microsoft.com/office/drawing/2014/main" id="{E948116F-D3FA-490C-B367-80E0CEF4121F}"/>
              </a:ext>
            </a:extLst>
          </p:cNvPr>
          <p:cNvSpPr/>
          <p:nvPr/>
        </p:nvSpPr>
        <p:spPr>
          <a:xfrm rot="17749119" flipH="1">
            <a:off x="1347880" y="4336905"/>
            <a:ext cx="1836493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Pfeil: nach rechts 30">
            <a:extLst>
              <a:ext uri="{FF2B5EF4-FFF2-40B4-BE49-F238E27FC236}">
                <a16:creationId xmlns:a16="http://schemas.microsoft.com/office/drawing/2014/main" id="{7E1AE68B-0EA4-4E51-B712-345F46C22250}"/>
              </a:ext>
            </a:extLst>
          </p:cNvPr>
          <p:cNvSpPr/>
          <p:nvPr/>
        </p:nvSpPr>
        <p:spPr>
          <a:xfrm rot="3850881" flipH="1" flipV="1">
            <a:off x="4325604" y="3972049"/>
            <a:ext cx="802022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Pfeil: nach rechts 31">
            <a:extLst>
              <a:ext uri="{FF2B5EF4-FFF2-40B4-BE49-F238E27FC236}">
                <a16:creationId xmlns:a16="http://schemas.microsoft.com/office/drawing/2014/main" id="{77EB62EE-B0EB-405E-A9E7-31819D74898A}"/>
              </a:ext>
            </a:extLst>
          </p:cNvPr>
          <p:cNvSpPr/>
          <p:nvPr/>
        </p:nvSpPr>
        <p:spPr>
          <a:xfrm rot="17749119" flipV="1">
            <a:off x="4321033" y="4977845"/>
            <a:ext cx="844595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BC0748C-9234-4B45-8D10-CBF7EEE1374C}"/>
              </a:ext>
            </a:extLst>
          </p:cNvPr>
          <p:cNvSpPr/>
          <p:nvPr/>
        </p:nvSpPr>
        <p:spPr>
          <a:xfrm>
            <a:off x="2877192" y="5363651"/>
            <a:ext cx="866143" cy="2751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Antworten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5BFC3D8-81AB-4B6E-AC39-A38E82FEDBCA}"/>
              </a:ext>
            </a:extLst>
          </p:cNvPr>
          <p:cNvSpPr/>
          <p:nvPr/>
        </p:nvSpPr>
        <p:spPr>
          <a:xfrm>
            <a:off x="1489393" y="4134614"/>
            <a:ext cx="912402" cy="49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Aufgaben, Testhefte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CA9A0AFC-CDCE-4998-A4B7-46F43B78EA44}"/>
              </a:ext>
            </a:extLst>
          </p:cNvPr>
          <p:cNvSpPr/>
          <p:nvPr/>
        </p:nvSpPr>
        <p:spPr>
          <a:xfrm>
            <a:off x="1197445" y="5342179"/>
            <a:ext cx="1676257" cy="318109"/>
          </a:xfrm>
          <a:prstGeom prst="roundRect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IQB-Testcenter</a:t>
            </a:r>
          </a:p>
        </p:txBody>
      </p:sp>
      <p:sp>
        <p:nvSpPr>
          <p:cNvPr id="12" name="Flussdiagramm: Magnetplattenspeicher 11">
            <a:extLst>
              <a:ext uri="{FF2B5EF4-FFF2-40B4-BE49-F238E27FC236}">
                <a16:creationId xmlns:a16="http://schemas.microsoft.com/office/drawing/2014/main" id="{F796BA9E-5480-793C-C4A2-8A734E31A83C}"/>
              </a:ext>
            </a:extLst>
          </p:cNvPr>
          <p:cNvSpPr/>
          <p:nvPr/>
        </p:nvSpPr>
        <p:spPr>
          <a:xfrm>
            <a:off x="5148991" y="5845787"/>
            <a:ext cx="986740" cy="944880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tx1"/>
                </a:solidFill>
              </a:rPr>
              <a:t>Daten-Archiv</a:t>
            </a:r>
          </a:p>
        </p:txBody>
      </p:sp>
      <p:sp>
        <p:nvSpPr>
          <p:cNvPr id="3" name="Pfeil: nach rechts 2">
            <a:extLst>
              <a:ext uri="{FF2B5EF4-FFF2-40B4-BE49-F238E27FC236}">
                <a16:creationId xmlns:a16="http://schemas.microsoft.com/office/drawing/2014/main" id="{1079D243-BA3D-E2A7-7F1D-465FB352B90A}"/>
              </a:ext>
            </a:extLst>
          </p:cNvPr>
          <p:cNvSpPr/>
          <p:nvPr/>
        </p:nvSpPr>
        <p:spPr>
          <a:xfrm rot="5400000">
            <a:off x="4864600" y="5159826"/>
            <a:ext cx="1555523" cy="317898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F4BB3833-2C2A-4D03-85C1-B048B97B60EA}"/>
              </a:ext>
            </a:extLst>
          </p:cNvPr>
          <p:cNvSpPr/>
          <p:nvPr/>
        </p:nvSpPr>
        <p:spPr>
          <a:xfrm>
            <a:off x="4674826" y="4420930"/>
            <a:ext cx="1387562" cy="31810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tx1"/>
                </a:solidFill>
              </a:rPr>
              <a:t>eatPrepTBA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BA86029-B693-FD41-5370-C38B7BF743FB}"/>
              </a:ext>
            </a:extLst>
          </p:cNvPr>
          <p:cNvSpPr/>
          <p:nvPr/>
        </p:nvSpPr>
        <p:spPr>
          <a:xfrm>
            <a:off x="4330789" y="4878635"/>
            <a:ext cx="866143" cy="4561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kodierte Antworten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27ED717-A731-F8F3-4893-8FBB71998940}"/>
              </a:ext>
            </a:extLst>
          </p:cNvPr>
          <p:cNvSpPr/>
          <p:nvPr/>
        </p:nvSpPr>
        <p:spPr>
          <a:xfrm>
            <a:off x="5490159" y="4915216"/>
            <a:ext cx="895401" cy="8912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Antworten, Itemdaten,</a:t>
            </a:r>
          </a:p>
          <a:p>
            <a:pPr algn="ctr"/>
            <a:r>
              <a:rPr lang="de-DE" sz="1200">
                <a:solidFill>
                  <a:srgbClr val="405786"/>
                </a:solidFill>
              </a:rPr>
              <a:t>Fähigkeits-werte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EFAB975-7544-FB8E-1E76-1F47B4DB4A1E}"/>
              </a:ext>
            </a:extLst>
          </p:cNvPr>
          <p:cNvSpPr/>
          <p:nvPr/>
        </p:nvSpPr>
        <p:spPr>
          <a:xfrm>
            <a:off x="4458697" y="3888327"/>
            <a:ext cx="866143" cy="4561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Item-kennwerte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0A89E02-51E0-1E69-76B2-B5EFA4D16E9D}"/>
              </a:ext>
            </a:extLst>
          </p:cNvPr>
          <p:cNvSpPr/>
          <p:nvPr/>
        </p:nvSpPr>
        <p:spPr>
          <a:xfrm>
            <a:off x="2931072" y="4258006"/>
            <a:ext cx="835184" cy="317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Aufgaben-UI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20" name="Pfeil: nach rechts 19">
            <a:extLst>
              <a:ext uri="{FF2B5EF4-FFF2-40B4-BE49-F238E27FC236}">
                <a16:creationId xmlns:a16="http://schemas.microsoft.com/office/drawing/2014/main" id="{B39DAA76-38F0-1AF7-02A1-8357E9AB6455}"/>
              </a:ext>
            </a:extLst>
          </p:cNvPr>
          <p:cNvSpPr/>
          <p:nvPr/>
        </p:nvSpPr>
        <p:spPr>
          <a:xfrm rot="3850881" flipH="1" flipV="1">
            <a:off x="3013385" y="4500352"/>
            <a:ext cx="1822517" cy="194103"/>
          </a:xfrm>
          <a:prstGeom prst="rightArrow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28E18734-A6B0-4784-F175-872BFD92F14A}"/>
              </a:ext>
            </a:extLst>
          </p:cNvPr>
          <p:cNvSpPr/>
          <p:nvPr/>
        </p:nvSpPr>
        <p:spPr>
          <a:xfrm>
            <a:off x="3381969" y="4578226"/>
            <a:ext cx="1102995" cy="287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Kodierschema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650F3AC-0BB7-413D-9A58-24EF66CF2B4F}"/>
              </a:ext>
            </a:extLst>
          </p:cNvPr>
          <p:cNvSpPr/>
          <p:nvPr/>
        </p:nvSpPr>
        <p:spPr>
          <a:xfrm>
            <a:off x="3784333" y="5342179"/>
            <a:ext cx="1676257" cy="318109"/>
          </a:xfrm>
          <a:prstGeom prst="roundRect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IQB-KodierBox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773FEF8-5DEB-241E-0E5B-41E0CE987629}"/>
              </a:ext>
            </a:extLst>
          </p:cNvPr>
          <p:cNvSpPr/>
          <p:nvPr/>
        </p:nvSpPr>
        <p:spPr>
          <a:xfrm>
            <a:off x="1627699" y="3228501"/>
            <a:ext cx="3365128" cy="528923"/>
          </a:xfrm>
          <a:prstGeom prst="roundRect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IQB-ContentHub</a:t>
            </a:r>
          </a:p>
        </p:txBody>
      </p:sp>
    </p:spTree>
    <p:extLst>
      <p:ext uri="{BB962C8B-B14F-4D97-AF65-F5344CB8AC3E}">
        <p14:creationId xmlns:p14="http://schemas.microsoft.com/office/powerpoint/2010/main" val="3370356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664993-9ED6-4670-922B-6DCFB75DA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content-hub2.png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D7D2D8F-2509-056B-8CAC-4F65CD4080E2}"/>
              </a:ext>
            </a:extLst>
          </p:cNvPr>
          <p:cNvSpPr/>
          <p:nvPr/>
        </p:nvSpPr>
        <p:spPr>
          <a:xfrm>
            <a:off x="673103" y="2924124"/>
            <a:ext cx="4787898" cy="243908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600">
              <a:solidFill>
                <a:srgbClr val="405786"/>
              </a:solidFill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0F9CB50D-6CAB-7433-6392-E47CC14FC637}"/>
              </a:ext>
            </a:extLst>
          </p:cNvPr>
          <p:cNvCxnSpPr>
            <a:cxnSpLocks/>
            <a:stCxn id="27" idx="0"/>
            <a:endCxn id="37" idx="2"/>
          </p:cNvCxnSpPr>
          <p:nvPr/>
        </p:nvCxnSpPr>
        <p:spPr>
          <a:xfrm flipH="1" flipV="1">
            <a:off x="3807603" y="2819540"/>
            <a:ext cx="1" cy="770227"/>
          </a:xfrm>
          <a:prstGeom prst="straightConnector1">
            <a:avLst/>
          </a:prstGeom>
          <a:ln w="22225">
            <a:solidFill>
              <a:srgbClr val="40578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6971455E-0E59-66A9-13C7-6EC0E700DC37}"/>
              </a:ext>
            </a:extLst>
          </p:cNvPr>
          <p:cNvSpPr/>
          <p:nvPr/>
        </p:nvSpPr>
        <p:spPr>
          <a:xfrm>
            <a:off x="3348893" y="2525788"/>
            <a:ext cx="917420" cy="2937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eatPrepTBA</a:t>
            </a:r>
            <a:endParaRPr lang="de-DE" sz="1400">
              <a:solidFill>
                <a:srgbClr val="405786"/>
              </a:solidFill>
            </a:endParaRP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1A197376-C3FE-BB86-D344-E3BF91183682}"/>
              </a:ext>
            </a:extLst>
          </p:cNvPr>
          <p:cNvCxnSpPr>
            <a:cxnSpLocks/>
            <a:stCxn id="44" idx="0"/>
            <a:endCxn id="28" idx="3"/>
          </p:cNvCxnSpPr>
          <p:nvPr/>
        </p:nvCxnSpPr>
        <p:spPr>
          <a:xfrm flipV="1">
            <a:off x="4771593" y="4352771"/>
            <a:ext cx="0" cy="1261899"/>
          </a:xfrm>
          <a:prstGeom prst="straightConnector1">
            <a:avLst/>
          </a:prstGeom>
          <a:ln w="22225">
            <a:solidFill>
              <a:srgbClr val="40578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E637A302-96ED-7826-494D-88887BBDE1C5}"/>
              </a:ext>
            </a:extLst>
          </p:cNvPr>
          <p:cNvSpPr/>
          <p:nvPr/>
        </p:nvSpPr>
        <p:spPr>
          <a:xfrm>
            <a:off x="4338521" y="5614670"/>
            <a:ext cx="866143" cy="690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Kodierbox, Testcenter, Studio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21A32612-B86D-A65A-66E1-1FBC8117FB53}"/>
              </a:ext>
            </a:extLst>
          </p:cNvPr>
          <p:cNvSpPr/>
          <p:nvPr/>
        </p:nvSpPr>
        <p:spPr>
          <a:xfrm>
            <a:off x="1563963" y="4754236"/>
            <a:ext cx="1193748" cy="302977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/>
              <a:t>Booklet-Editor</a:t>
            </a:r>
            <a:endParaRPr lang="de-DE" sz="1400"/>
          </a:p>
        </p:txBody>
      </p: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7DC1F910-59AE-AD5E-9791-7FFB80DBF532}"/>
              </a:ext>
            </a:extLst>
          </p:cNvPr>
          <p:cNvSpPr/>
          <p:nvPr/>
        </p:nvSpPr>
        <p:spPr>
          <a:xfrm>
            <a:off x="1563963" y="4403525"/>
            <a:ext cx="1176563" cy="302977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/>
              <a:t>AP-Editor</a:t>
            </a:r>
            <a:endParaRPr lang="de-DE" sz="1400"/>
          </a:p>
        </p:txBody>
      </p:sp>
      <p:sp>
        <p:nvSpPr>
          <p:cNvPr id="47" name="Rechteck: abgerundete Ecken 46">
            <a:extLst>
              <a:ext uri="{FF2B5EF4-FFF2-40B4-BE49-F238E27FC236}">
                <a16:creationId xmlns:a16="http://schemas.microsoft.com/office/drawing/2014/main" id="{596664A5-4892-9289-BFBE-354B0B2F0BC0}"/>
              </a:ext>
            </a:extLst>
          </p:cNvPr>
          <p:cNvSpPr/>
          <p:nvPr/>
        </p:nvSpPr>
        <p:spPr>
          <a:xfrm>
            <a:off x="3515215" y="4403525"/>
            <a:ext cx="1167661" cy="302977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/>
              <a:t>Item-Explorer</a:t>
            </a:r>
            <a:endParaRPr lang="de-DE" sz="1400"/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8A6A495B-7CCF-28C4-22BE-4C6E2AF1E8DB}"/>
              </a:ext>
            </a:extLst>
          </p:cNvPr>
          <p:cNvCxnSpPr>
            <a:cxnSpLocks/>
            <a:stCxn id="28" idx="1"/>
            <a:endCxn id="51" idx="2"/>
          </p:cNvCxnSpPr>
          <p:nvPr/>
        </p:nvCxnSpPr>
        <p:spPr>
          <a:xfrm flipV="1">
            <a:off x="4771593" y="2819540"/>
            <a:ext cx="0" cy="590837"/>
          </a:xfrm>
          <a:prstGeom prst="straightConnector1">
            <a:avLst/>
          </a:prstGeom>
          <a:ln w="22225">
            <a:solidFill>
              <a:srgbClr val="40578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9294A9CF-27F9-37F4-0FF8-3C04FAA5328B}"/>
              </a:ext>
            </a:extLst>
          </p:cNvPr>
          <p:cNvSpPr/>
          <p:nvPr/>
        </p:nvSpPr>
        <p:spPr>
          <a:xfrm>
            <a:off x="4338521" y="2525788"/>
            <a:ext cx="866143" cy="2937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Studio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54" name="Rechteck: abgerundete Ecken 53">
            <a:extLst>
              <a:ext uri="{FF2B5EF4-FFF2-40B4-BE49-F238E27FC236}">
                <a16:creationId xmlns:a16="http://schemas.microsoft.com/office/drawing/2014/main" id="{24E4B898-4F8E-7264-6EA6-7F4E96815992}"/>
              </a:ext>
            </a:extLst>
          </p:cNvPr>
          <p:cNvSpPr/>
          <p:nvPr/>
        </p:nvSpPr>
        <p:spPr>
          <a:xfrm>
            <a:off x="3517692" y="4754236"/>
            <a:ext cx="1167661" cy="302977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/>
              <a:t>Unit-Review</a:t>
            </a:r>
            <a:endParaRPr lang="de-DE" sz="1400"/>
          </a:p>
        </p:txBody>
      </p: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EB18D02B-1379-4F64-B5ED-0A2795EF24CE}"/>
              </a:ext>
            </a:extLst>
          </p:cNvPr>
          <p:cNvCxnSpPr>
            <a:cxnSpLocks/>
            <a:stCxn id="62" idx="0"/>
            <a:endCxn id="21" idx="3"/>
          </p:cNvCxnSpPr>
          <p:nvPr/>
        </p:nvCxnSpPr>
        <p:spPr>
          <a:xfrm flipV="1">
            <a:off x="2843613" y="4352771"/>
            <a:ext cx="1" cy="1261899"/>
          </a:xfrm>
          <a:prstGeom prst="straightConnector1">
            <a:avLst/>
          </a:prstGeom>
          <a:ln w="22225">
            <a:solidFill>
              <a:srgbClr val="40578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hteck 61">
            <a:extLst>
              <a:ext uri="{FF2B5EF4-FFF2-40B4-BE49-F238E27FC236}">
                <a16:creationId xmlns:a16="http://schemas.microsoft.com/office/drawing/2014/main" id="{CC41AD77-5AAA-106A-867F-605A09271D45}"/>
              </a:ext>
            </a:extLst>
          </p:cNvPr>
          <p:cNvSpPr/>
          <p:nvPr/>
        </p:nvSpPr>
        <p:spPr>
          <a:xfrm>
            <a:off x="2410541" y="5614670"/>
            <a:ext cx="866143" cy="373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Testcenter</a:t>
            </a:r>
            <a:endParaRPr lang="de-DE" sz="1400">
              <a:solidFill>
                <a:srgbClr val="405786"/>
              </a:solidFill>
            </a:endParaRPr>
          </a:p>
        </p:txBody>
      </p:sp>
      <p:sp>
        <p:nvSpPr>
          <p:cNvPr id="70" name="Pfeil: nach links 69">
            <a:extLst>
              <a:ext uri="{FF2B5EF4-FFF2-40B4-BE49-F238E27FC236}">
                <a16:creationId xmlns:a16="http://schemas.microsoft.com/office/drawing/2014/main" id="{8B484C5C-6D69-9DC8-4FBC-0515C7CB2177}"/>
              </a:ext>
            </a:extLst>
          </p:cNvPr>
          <p:cNvSpPr/>
          <p:nvPr/>
        </p:nvSpPr>
        <p:spPr>
          <a:xfrm>
            <a:off x="1926195" y="3730100"/>
            <a:ext cx="2512455" cy="317898"/>
          </a:xfrm>
          <a:prstGeom prst="leftArrow">
            <a:avLst/>
          </a:prstGeom>
          <a:solidFill>
            <a:srgbClr val="40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07071733-ACEA-D25D-4C7B-CD1FB7B4B6F5}"/>
              </a:ext>
            </a:extLst>
          </p:cNvPr>
          <p:cNvSpPr/>
          <p:nvPr/>
        </p:nvSpPr>
        <p:spPr>
          <a:xfrm>
            <a:off x="3516161" y="3589767"/>
            <a:ext cx="582885" cy="583615"/>
          </a:xfrm>
          <a:prstGeom prst="roundRect">
            <a:avLst/>
          </a:prstGeom>
          <a:solidFill>
            <a:srgbClr val="40578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/>
              <a:t>Item-kenn-werte</a:t>
            </a:r>
          </a:p>
        </p:txBody>
      </p:sp>
      <p:sp>
        <p:nvSpPr>
          <p:cNvPr id="28" name="Flussdiagramm: Magnetplattenspeicher 27">
            <a:extLst>
              <a:ext uri="{FF2B5EF4-FFF2-40B4-BE49-F238E27FC236}">
                <a16:creationId xmlns:a16="http://schemas.microsoft.com/office/drawing/2014/main" id="{4B77E6B9-BC69-0818-2754-F74A06B8E155}"/>
              </a:ext>
            </a:extLst>
          </p:cNvPr>
          <p:cNvSpPr/>
          <p:nvPr/>
        </p:nvSpPr>
        <p:spPr>
          <a:xfrm>
            <a:off x="4266312" y="3410377"/>
            <a:ext cx="1010561" cy="942394"/>
          </a:xfrm>
          <a:prstGeom prst="flowChartMagneticDisk">
            <a:avLst/>
          </a:prstGeom>
          <a:solidFill>
            <a:srgbClr val="40578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/>
              <a:t>Units</a:t>
            </a:r>
          </a:p>
        </p:txBody>
      </p:sp>
      <p:sp>
        <p:nvSpPr>
          <p:cNvPr id="21" name="Flussdiagramm: Magnetplattenspeicher 20">
            <a:extLst>
              <a:ext uri="{FF2B5EF4-FFF2-40B4-BE49-F238E27FC236}">
                <a16:creationId xmlns:a16="http://schemas.microsoft.com/office/drawing/2014/main" id="{C32C1D49-7C7A-B993-42CA-0EED9CF1F2A4}"/>
              </a:ext>
            </a:extLst>
          </p:cNvPr>
          <p:cNvSpPr/>
          <p:nvPr/>
        </p:nvSpPr>
        <p:spPr>
          <a:xfrm>
            <a:off x="2338333" y="3410377"/>
            <a:ext cx="1010561" cy="942394"/>
          </a:xfrm>
          <a:prstGeom prst="flowChartMagneticDisk">
            <a:avLst/>
          </a:prstGeom>
          <a:solidFill>
            <a:srgbClr val="40578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/>
              <a:t>Studien</a:t>
            </a:r>
          </a:p>
        </p:txBody>
      </p:sp>
      <p:sp>
        <p:nvSpPr>
          <p:cNvPr id="69" name="Flussdiagramm: Magnetplattenspeicher 68">
            <a:extLst>
              <a:ext uri="{FF2B5EF4-FFF2-40B4-BE49-F238E27FC236}">
                <a16:creationId xmlns:a16="http://schemas.microsoft.com/office/drawing/2014/main" id="{DDE9446D-D51E-2904-B43D-185315EA8514}"/>
              </a:ext>
            </a:extLst>
          </p:cNvPr>
          <p:cNvSpPr/>
          <p:nvPr/>
        </p:nvSpPr>
        <p:spPr>
          <a:xfrm>
            <a:off x="915634" y="3408839"/>
            <a:ext cx="1010561" cy="942394"/>
          </a:xfrm>
          <a:prstGeom prst="flowChartMagneticDisk">
            <a:avLst/>
          </a:prstGeom>
          <a:solidFill>
            <a:srgbClr val="40578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Assessment Packages</a:t>
            </a:r>
          </a:p>
        </p:txBody>
      </p: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B0D7C2BE-8198-3335-8B85-FC4C9BA222D0}"/>
              </a:ext>
            </a:extLst>
          </p:cNvPr>
          <p:cNvCxnSpPr>
            <a:cxnSpLocks/>
            <a:endCxn id="69" idx="3"/>
          </p:cNvCxnSpPr>
          <p:nvPr/>
        </p:nvCxnSpPr>
        <p:spPr>
          <a:xfrm flipV="1">
            <a:off x="1420913" y="4351233"/>
            <a:ext cx="2" cy="1267247"/>
          </a:xfrm>
          <a:prstGeom prst="straightConnector1">
            <a:avLst/>
          </a:prstGeom>
          <a:ln w="22225">
            <a:solidFill>
              <a:srgbClr val="40578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hteck 72">
            <a:extLst>
              <a:ext uri="{FF2B5EF4-FFF2-40B4-BE49-F238E27FC236}">
                <a16:creationId xmlns:a16="http://schemas.microsoft.com/office/drawing/2014/main" id="{CD3FFE20-A974-9AD0-A923-EF18E789FC30}"/>
              </a:ext>
            </a:extLst>
          </p:cNvPr>
          <p:cNvSpPr/>
          <p:nvPr/>
        </p:nvSpPr>
        <p:spPr>
          <a:xfrm>
            <a:off x="987841" y="5614670"/>
            <a:ext cx="866143" cy="373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Länder</a:t>
            </a:r>
            <a:endParaRPr lang="de-DE" sz="1400">
              <a:solidFill>
                <a:srgbClr val="405786"/>
              </a:solidFill>
            </a:endParaRPr>
          </a:p>
        </p:txBody>
      </p: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60D643AA-B387-867F-4232-15BF303F53C3}"/>
              </a:ext>
            </a:extLst>
          </p:cNvPr>
          <p:cNvCxnSpPr>
            <a:cxnSpLocks/>
            <a:stCxn id="21" idx="1"/>
            <a:endCxn id="76" idx="2"/>
          </p:cNvCxnSpPr>
          <p:nvPr/>
        </p:nvCxnSpPr>
        <p:spPr>
          <a:xfrm flipH="1" flipV="1">
            <a:off x="2843613" y="2813963"/>
            <a:ext cx="1" cy="596414"/>
          </a:xfrm>
          <a:prstGeom prst="straightConnector1">
            <a:avLst/>
          </a:prstGeom>
          <a:ln w="22225">
            <a:solidFill>
              <a:srgbClr val="40578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hteck 75">
            <a:extLst>
              <a:ext uri="{FF2B5EF4-FFF2-40B4-BE49-F238E27FC236}">
                <a16:creationId xmlns:a16="http://schemas.microsoft.com/office/drawing/2014/main" id="{BE383267-29A9-9FC8-CE21-694445340630}"/>
              </a:ext>
            </a:extLst>
          </p:cNvPr>
          <p:cNvSpPr/>
          <p:nvPr/>
        </p:nvSpPr>
        <p:spPr>
          <a:xfrm>
            <a:off x="2410541" y="2399938"/>
            <a:ext cx="866143" cy="414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>
                <a:solidFill>
                  <a:srgbClr val="405786"/>
                </a:solidFill>
              </a:rPr>
              <a:t>AP andere Quellen</a:t>
            </a:r>
            <a:endParaRPr lang="de-DE" sz="1400">
              <a:solidFill>
                <a:srgbClr val="4057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21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291</Words>
  <Application>Microsoft Office PowerPoint</Application>
  <PresentationFormat>Bildschirmpräsentation (4:3)</PresentationFormat>
  <Paragraphs>178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Office</vt:lpstr>
      <vt:lpstr>iqb-berlin.github.io/ rising-stars</vt:lpstr>
      <vt:lpstr>intro1.png</vt:lpstr>
      <vt:lpstr>intro2.png</vt:lpstr>
      <vt:lpstr>intro3.png</vt:lpstr>
      <vt:lpstr>response-analyser.png</vt:lpstr>
      <vt:lpstr>response-analyser-func.png</vt:lpstr>
      <vt:lpstr>response-analyser-vera.png</vt:lpstr>
      <vt:lpstr>response-analyser-stars.png</vt:lpstr>
      <vt:lpstr>booklet-structure.png</vt:lpstr>
      <vt:lpstr>content-hub1.png</vt:lpstr>
      <vt:lpstr>content-hub2.png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iqb-berlin.github.io/ rising-stars</dc:title>
  <dc:creator>Martin</dc:creator>
  <cp:lastModifiedBy>Martin</cp:lastModifiedBy>
  <cp:revision>51</cp:revision>
  <dcterms:created xsi:type="dcterms:W3CDTF">2025-09-05T05:36:38Z</dcterms:created>
  <dcterms:modified xsi:type="dcterms:W3CDTF">2026-09-27T08:39:44Z</dcterms:modified>
</cp:coreProperties>
</file>