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6" r:id="rId2"/>
    <p:sldId id="257" r:id="rId3"/>
    <p:sldId id="258" r:id="rId4"/>
    <p:sldId id="263" r:id="rId5"/>
    <p:sldId id="259" r:id="rId6"/>
    <p:sldId id="261" r:id="rId7"/>
    <p:sldId id="262" r:id="rId8"/>
    <p:sldId id="260" r:id="rId9"/>
    <p:sldId id="265" r:id="rId10"/>
    <p:sldId id="266" r:id="rId11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5786"/>
    <a:srgbClr val="7D12B9"/>
    <a:srgbClr val="7D12BA"/>
    <a:srgbClr val="D92FC1"/>
    <a:srgbClr val="008CBA"/>
    <a:srgbClr val="2E75B6"/>
    <a:srgbClr val="D6DCE5"/>
    <a:srgbClr val="B400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2592" y="-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7921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1326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8403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2990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28767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98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9764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546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4987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7102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00636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A8E2D6-597E-47D2-87A5-57F74AD9D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486834"/>
            <a:ext cx="5342083" cy="754737"/>
          </a:xfrm>
          <a:solidFill>
            <a:schemeClr val="tx2">
              <a:lumMod val="20000"/>
              <a:lumOff val="80000"/>
            </a:schemeClr>
          </a:solidFill>
        </p:spPr>
        <p:txBody>
          <a:bodyPr>
            <a:noAutofit/>
          </a:bodyPr>
          <a:lstStyle>
            <a:lvl1pPr>
              <a:defRPr sz="2400">
                <a:latin typeface="Consolas" panose="020B0609020204030204" pitchFamily="49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5019903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316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BCA66E-2F52-45C2-9912-76CBA2B1C0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9400" y="2509317"/>
            <a:ext cx="6299200" cy="3310912"/>
          </a:xfrm>
        </p:spPr>
        <p:txBody>
          <a:bodyPr>
            <a:noAutofit/>
          </a:bodyPr>
          <a:lstStyle/>
          <a:p>
            <a:r>
              <a:rPr lang="de-DE" sz="4000">
                <a:latin typeface="Consolas" panose="020B0609020204030204" pitchFamily="49" charset="0"/>
              </a:rPr>
              <a:t>iqb-berlin.github.io/</a:t>
            </a:r>
            <a:br>
              <a:rPr lang="de-DE" sz="4000">
                <a:latin typeface="Consolas" panose="020B0609020204030204" pitchFamily="49" charset="0"/>
              </a:rPr>
            </a:br>
            <a:r>
              <a:rPr lang="de-DE" sz="5400">
                <a:solidFill>
                  <a:srgbClr val="B40036"/>
                </a:solidFill>
                <a:latin typeface="Consolas" panose="020B0609020204030204" pitchFamily="49" charset="0"/>
              </a:rPr>
              <a:t>rising-stars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1D4529E-7050-4378-B76B-AAD0CCF51E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9400" y="6270170"/>
            <a:ext cx="6299201" cy="899887"/>
          </a:xfrm>
        </p:spPr>
        <p:txBody>
          <a:bodyPr/>
          <a:lstStyle/>
          <a:p>
            <a:r>
              <a:rPr lang="de-DE"/>
              <a:t>Grafische Darstellungen für Quarto-Website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33222F0-B978-446A-ACF0-DC2D72F4E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8597" y="445190"/>
            <a:ext cx="1680806" cy="72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1148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D01AAD-30D1-4DFB-8F62-36BE63980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intro1.png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82FA06FF-CE17-490A-B4D9-06A09C0BF8D7}"/>
              </a:ext>
            </a:extLst>
          </p:cNvPr>
          <p:cNvSpPr/>
          <p:nvPr/>
        </p:nvSpPr>
        <p:spPr>
          <a:xfrm>
            <a:off x="1400627" y="1718124"/>
            <a:ext cx="1187984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Ziele festlegen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230F1FC-733B-4031-A846-723866F10F8D}"/>
              </a:ext>
            </a:extLst>
          </p:cNvPr>
          <p:cNvSpPr/>
          <p:nvPr/>
        </p:nvSpPr>
        <p:spPr>
          <a:xfrm>
            <a:off x="1024422" y="3105976"/>
            <a:ext cx="1940394" cy="525735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Test durchführen</a:t>
            </a:r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CFC464E1-9A47-4D9E-9758-C0A1C3141767}"/>
              </a:ext>
            </a:extLst>
          </p:cNvPr>
          <p:cNvGrpSpPr/>
          <p:nvPr/>
        </p:nvGrpSpPr>
        <p:grpSpPr>
          <a:xfrm>
            <a:off x="186294" y="2312165"/>
            <a:ext cx="3616651" cy="318109"/>
            <a:chOff x="5476395" y="2240107"/>
            <a:chExt cx="4384193" cy="385619"/>
          </a:xfrm>
        </p:grpSpPr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EEF6FF71-514C-4676-8656-6710BEB7C531}"/>
                </a:ext>
              </a:extLst>
            </p:cNvPr>
            <p:cNvSpPr/>
            <p:nvPr/>
          </p:nvSpPr>
          <p:spPr>
            <a:xfrm>
              <a:off x="5476395" y="2240107"/>
              <a:ext cx="2032000" cy="38561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Testinhalte auswählen</a:t>
              </a:r>
            </a:p>
          </p:txBody>
        </p:sp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043F2165-136D-4CFB-8F42-7C40B1C40E71}"/>
                </a:ext>
              </a:extLst>
            </p:cNvPr>
            <p:cNvSpPr/>
            <p:nvPr/>
          </p:nvSpPr>
          <p:spPr>
            <a:xfrm>
              <a:off x="7828588" y="2240107"/>
              <a:ext cx="2032000" cy="38561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Testpersonen festlegen</a:t>
              </a:r>
            </a:p>
          </p:txBody>
        </p:sp>
      </p:grp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C3DFAC6-65F1-4831-842C-FDBEFC655E15}"/>
              </a:ext>
            </a:extLst>
          </p:cNvPr>
          <p:cNvCxnSpPr>
            <a:cxnSpLocks/>
          </p:cNvCxnSpPr>
          <p:nvPr/>
        </p:nvCxnSpPr>
        <p:spPr>
          <a:xfrm flipH="1">
            <a:off x="1345070" y="2036232"/>
            <a:ext cx="327632" cy="275932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954FC19-65D7-4FF6-8000-2C8578F74369}"/>
              </a:ext>
            </a:extLst>
          </p:cNvPr>
          <p:cNvCxnSpPr>
            <a:cxnSpLocks/>
          </p:cNvCxnSpPr>
          <p:nvPr/>
        </p:nvCxnSpPr>
        <p:spPr>
          <a:xfrm>
            <a:off x="2251772" y="2036232"/>
            <a:ext cx="293346" cy="265901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F5D73EBC-543B-40E1-A8ED-5E576A912B6E}"/>
              </a:ext>
            </a:extLst>
          </p:cNvPr>
          <p:cNvCxnSpPr>
            <a:cxnSpLocks/>
          </p:cNvCxnSpPr>
          <p:nvPr/>
        </p:nvCxnSpPr>
        <p:spPr>
          <a:xfrm flipH="1">
            <a:off x="2251772" y="2630273"/>
            <a:ext cx="293346" cy="475702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95BB7E91-197A-4D8F-A783-57792062968B}"/>
              </a:ext>
            </a:extLst>
          </p:cNvPr>
          <p:cNvCxnSpPr>
            <a:cxnSpLocks/>
          </p:cNvCxnSpPr>
          <p:nvPr/>
        </p:nvCxnSpPr>
        <p:spPr>
          <a:xfrm>
            <a:off x="1357133" y="2630273"/>
            <a:ext cx="384777" cy="485734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9625DECD-0C9A-4379-BAD7-03259A30CD52}"/>
              </a:ext>
            </a:extLst>
          </p:cNvPr>
          <p:cNvSpPr/>
          <p:nvPr/>
        </p:nvSpPr>
        <p:spPr>
          <a:xfrm>
            <a:off x="1156490" y="4091461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Antworten kodieren</a:t>
            </a: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0F359A76-9ECD-4606-BBC0-D2EDC3A3FF06}"/>
              </a:ext>
            </a:extLst>
          </p:cNvPr>
          <p:cNvSpPr/>
          <p:nvPr/>
        </p:nvSpPr>
        <p:spPr>
          <a:xfrm>
            <a:off x="1156490" y="470145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Daten analysieren</a:t>
            </a:r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2E870002-6C23-4235-9F19-ACEC1BA0CCFD}"/>
              </a:ext>
            </a:extLst>
          </p:cNvPr>
          <p:cNvSpPr/>
          <p:nvPr/>
        </p:nvSpPr>
        <p:spPr>
          <a:xfrm>
            <a:off x="1156490" y="5311448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Ergebnisse berichten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FBE4D5C-043B-40AC-82E0-E06811BCCB84}"/>
              </a:ext>
            </a:extLst>
          </p:cNvPr>
          <p:cNvCxnSpPr>
            <a:cxnSpLocks/>
            <a:stCxn id="8" idx="2"/>
            <a:endCxn id="26" idx="0"/>
          </p:cNvCxnSpPr>
          <p:nvPr/>
        </p:nvCxnSpPr>
        <p:spPr>
          <a:xfrm flipH="1">
            <a:off x="1994619" y="3631711"/>
            <a:ext cx="1" cy="459750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98E9F793-48FF-4A5B-B432-C274A97E634B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>
            <a:off x="1994619" y="4409569"/>
            <a:ext cx="0" cy="291885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22E96B1D-AD46-4C04-9138-CB3D76FE4639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>
            <a:off x="1994619" y="5019563"/>
            <a:ext cx="0" cy="291885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D3101B41-FD70-4144-9F1D-076707FAE58E}"/>
              </a:ext>
            </a:extLst>
          </p:cNvPr>
          <p:cNvGrpSpPr/>
          <p:nvPr/>
        </p:nvGrpSpPr>
        <p:grpSpPr>
          <a:xfrm>
            <a:off x="4357836" y="2438401"/>
            <a:ext cx="2266758" cy="3290805"/>
            <a:chOff x="357336" y="2428876"/>
            <a:chExt cx="2266758" cy="3290805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0A7B701-6983-4CD7-8BF2-096C296B8C62}"/>
                </a:ext>
              </a:extLst>
            </p:cNvPr>
            <p:cNvSpPr/>
            <p:nvPr/>
          </p:nvSpPr>
          <p:spPr>
            <a:xfrm>
              <a:off x="357336" y="2428876"/>
              <a:ext cx="2266758" cy="3290805"/>
            </a:xfrm>
            <a:prstGeom prst="rect">
              <a:avLst/>
            </a:prstGeom>
            <a:solidFill>
              <a:srgbClr val="D6DC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de-DE" sz="1600" b="1">
                  <a:solidFill>
                    <a:srgbClr val="405786"/>
                  </a:solidFill>
                </a:rPr>
                <a:t>Assessment Package</a:t>
              </a:r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3333A75C-F528-4E98-B21A-2ED7E6180BAE}"/>
                </a:ext>
              </a:extLst>
            </p:cNvPr>
            <p:cNvSpPr/>
            <p:nvPr/>
          </p:nvSpPr>
          <p:spPr>
            <a:xfrm>
              <a:off x="471488" y="3214225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Aufgaben, Testhefte</a:t>
              </a:r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6BBB1F6F-854F-4A13-9BD2-320FBDBAC954}"/>
                </a:ext>
              </a:extLst>
            </p:cNvPr>
            <p:cNvSpPr/>
            <p:nvPr/>
          </p:nvSpPr>
          <p:spPr>
            <a:xfrm>
              <a:off x="471488" y="4095897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Kodiervorschriften</a:t>
              </a:r>
              <a:endParaRPr lang="de-DE" sz="1600">
                <a:solidFill>
                  <a:srgbClr val="405786"/>
                </a:solidFill>
              </a:endParaRPr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0045C2F8-8393-4068-905F-BC71083EC3F9}"/>
                </a:ext>
              </a:extLst>
            </p:cNvPr>
            <p:cNvSpPr/>
            <p:nvPr/>
          </p:nvSpPr>
          <p:spPr>
            <a:xfrm>
              <a:off x="471488" y="4705890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Skalen</a:t>
              </a: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C56EA558-E1C2-47E1-AEF8-7813D473A629}"/>
                </a:ext>
              </a:extLst>
            </p:cNvPr>
            <p:cNvSpPr/>
            <p:nvPr/>
          </p:nvSpPr>
          <p:spPr>
            <a:xfrm>
              <a:off x="471488" y="5311268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Material, Textbausteine</a:t>
              </a:r>
            </a:p>
          </p:txBody>
        </p:sp>
      </p:grp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02E079B6-BCEB-43F1-B283-6F15D72C8FBE}"/>
              </a:ext>
            </a:extLst>
          </p:cNvPr>
          <p:cNvCxnSpPr>
            <a:cxnSpLocks/>
          </p:cNvCxnSpPr>
          <p:nvPr/>
        </p:nvCxnSpPr>
        <p:spPr>
          <a:xfrm>
            <a:off x="3315475" y="3371996"/>
            <a:ext cx="1199375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4E89F041-1D7F-40BA-B6C5-52550DDBA935}"/>
              </a:ext>
            </a:extLst>
          </p:cNvPr>
          <p:cNvCxnSpPr>
            <a:cxnSpLocks/>
          </p:cNvCxnSpPr>
          <p:nvPr/>
        </p:nvCxnSpPr>
        <p:spPr>
          <a:xfrm>
            <a:off x="3315475" y="4252030"/>
            <a:ext cx="1199375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AE56383E-D8F3-491A-B496-6ECBF3C4CBEB}"/>
              </a:ext>
            </a:extLst>
          </p:cNvPr>
          <p:cNvCxnSpPr>
            <a:cxnSpLocks/>
          </p:cNvCxnSpPr>
          <p:nvPr/>
        </p:nvCxnSpPr>
        <p:spPr>
          <a:xfrm>
            <a:off x="3315475" y="4865388"/>
            <a:ext cx="1198800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5E9054F2-F452-4AC2-A247-39A9A2801713}"/>
              </a:ext>
            </a:extLst>
          </p:cNvPr>
          <p:cNvCxnSpPr>
            <a:cxnSpLocks/>
          </p:cNvCxnSpPr>
          <p:nvPr/>
        </p:nvCxnSpPr>
        <p:spPr>
          <a:xfrm>
            <a:off x="3315475" y="5478746"/>
            <a:ext cx="1198800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0079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05879" y="2210141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intro2.png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866374" y="3322333"/>
            <a:ext cx="1387562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Dashboard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02462" y="2185932"/>
            <a:ext cx="958211" cy="2232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Inhaltspaket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3517112" y="3322438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recht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525804" y="2216125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228CEA52-D8AD-4F8B-9BD6-0786BCDFAE01}"/>
              </a:ext>
            </a:extLst>
          </p:cNvPr>
          <p:cNvGrpSpPr/>
          <p:nvPr/>
        </p:nvGrpSpPr>
        <p:grpSpPr>
          <a:xfrm>
            <a:off x="1218636" y="1679822"/>
            <a:ext cx="4060201" cy="318109"/>
            <a:chOff x="1288215" y="1678108"/>
            <a:chExt cx="4060201" cy="318109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1D19F10A-674D-4908-9A18-FDAD3BD7BEDC}"/>
                </a:ext>
              </a:extLst>
            </p:cNvPr>
            <p:cNvSpPr/>
            <p:nvPr/>
          </p:nvSpPr>
          <p:spPr>
            <a:xfrm>
              <a:off x="1288215" y="1678108"/>
              <a:ext cx="1676257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IQB-ContentHub</a:t>
              </a:r>
            </a:p>
          </p:txBody>
        </p:sp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2B3200A0-8EF8-4FFF-B02C-41172859B333}"/>
                </a:ext>
              </a:extLst>
            </p:cNvPr>
            <p:cNvSpPr/>
            <p:nvPr/>
          </p:nvSpPr>
          <p:spPr>
            <a:xfrm>
              <a:off x="3548262" y="1678108"/>
              <a:ext cx="1800154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Schulverwaltungssystem</a:t>
              </a:r>
            </a:p>
          </p:txBody>
        </p:sp>
      </p:grp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861460" y="212943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Personendaten, Klassendaten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3276646" y="4495745"/>
            <a:ext cx="152755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430695" y="4468969"/>
            <a:ext cx="154307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3611056" y="4547686"/>
            <a:ext cx="1608578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1637146" y="4707528"/>
            <a:ext cx="158108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5774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IQB-ResponseAnalyser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9E9FFAC-5BDD-4619-B944-B410E0D4B7C9}"/>
              </a:ext>
            </a:extLst>
          </p:cNvPr>
          <p:cNvSpPr/>
          <p:nvPr/>
        </p:nvSpPr>
        <p:spPr>
          <a:xfrm>
            <a:off x="2129550" y="2762250"/>
            <a:ext cx="2238375" cy="1438275"/>
          </a:xfrm>
          <a:prstGeom prst="ellipse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Management-Portal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C5C6E94-3059-4E24-8C1A-34FE1F4BF7F0}"/>
              </a:ext>
            </a:extLst>
          </p:cNvPr>
          <p:cNvSpPr/>
          <p:nvPr/>
        </p:nvSpPr>
        <p:spPr>
          <a:xfrm>
            <a:off x="4253878" y="4323322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Personen-fähigkeitswerte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245213" y="4866477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8BE632D-9126-48FC-ABAA-B1E77D0C6B0D}"/>
              </a:ext>
            </a:extLst>
          </p:cNvPr>
          <p:cNvSpPr/>
          <p:nvPr/>
        </p:nvSpPr>
        <p:spPr>
          <a:xfrm>
            <a:off x="3222584" y="4356059"/>
            <a:ext cx="951451" cy="466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Antworten, Skalen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3867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</p:spTree>
    <p:extLst>
      <p:ext uri="{BB962C8B-B14F-4D97-AF65-F5344CB8AC3E}">
        <p14:creationId xmlns:p14="http://schemas.microsoft.com/office/powerpoint/2010/main" val="4177106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05879" y="2210141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intro3.png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866374" y="3322333"/>
            <a:ext cx="1387562" cy="31810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Bericht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02463" y="2185932"/>
            <a:ext cx="912402" cy="256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Units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3517112" y="3322438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recht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525804" y="2216125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228CEA52-D8AD-4F8B-9BD6-0786BCDFAE01}"/>
              </a:ext>
            </a:extLst>
          </p:cNvPr>
          <p:cNvGrpSpPr/>
          <p:nvPr/>
        </p:nvGrpSpPr>
        <p:grpSpPr>
          <a:xfrm>
            <a:off x="1218636" y="1679822"/>
            <a:ext cx="4060201" cy="318109"/>
            <a:chOff x="1288215" y="1678108"/>
            <a:chExt cx="4060201" cy="318109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1D19F10A-674D-4908-9A18-FDAD3BD7BEDC}"/>
                </a:ext>
              </a:extLst>
            </p:cNvPr>
            <p:cNvSpPr/>
            <p:nvPr/>
          </p:nvSpPr>
          <p:spPr>
            <a:xfrm>
              <a:off x="1288215" y="1678108"/>
              <a:ext cx="1676257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IQB-Studio</a:t>
              </a:r>
            </a:p>
          </p:txBody>
        </p:sp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2B3200A0-8EF8-4FFF-B02C-41172859B333}"/>
                </a:ext>
              </a:extLst>
            </p:cNvPr>
            <p:cNvSpPr/>
            <p:nvPr/>
          </p:nvSpPr>
          <p:spPr>
            <a:xfrm>
              <a:off x="3548262" y="1678108"/>
              <a:ext cx="1800154" cy="31810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b="1">
                  <a:solidFill>
                    <a:schemeClr val="tx1"/>
                  </a:solidFill>
                </a:rPr>
                <a:t>Excel-Dateien, XML</a:t>
              </a:r>
            </a:p>
          </p:txBody>
        </p:sp>
      </p:grp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861460" y="212943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Personendaten, Klassendaten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3276646" y="4495745"/>
            <a:ext cx="152755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430695" y="4468969"/>
            <a:ext cx="154307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3611056" y="4547686"/>
            <a:ext cx="1608578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1637146" y="4707528"/>
            <a:ext cx="158108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5774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IQB-KodierBox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9E9FFAC-5BDD-4619-B944-B410E0D4B7C9}"/>
              </a:ext>
            </a:extLst>
          </p:cNvPr>
          <p:cNvSpPr/>
          <p:nvPr/>
        </p:nvSpPr>
        <p:spPr>
          <a:xfrm>
            <a:off x="2129550" y="2762250"/>
            <a:ext cx="2238375" cy="143827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>
                <a:solidFill>
                  <a:schemeClr val="tx1"/>
                </a:solidFill>
              </a:rPr>
              <a:t>Manuelles Daten-management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C5C6E94-3059-4E24-8C1A-34FE1F4BF7F0}"/>
              </a:ext>
            </a:extLst>
          </p:cNvPr>
          <p:cNvSpPr/>
          <p:nvPr/>
        </p:nvSpPr>
        <p:spPr>
          <a:xfrm>
            <a:off x="4082648" y="4564268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Item-Matrix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245213" y="4866477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8BE632D-9126-48FC-ABAA-B1E77D0C6B0D}"/>
              </a:ext>
            </a:extLst>
          </p:cNvPr>
          <p:cNvSpPr/>
          <p:nvPr/>
        </p:nvSpPr>
        <p:spPr>
          <a:xfrm>
            <a:off x="3222584" y="4356059"/>
            <a:ext cx="951451" cy="466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3867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</p:spTree>
    <p:extLst>
      <p:ext uri="{BB962C8B-B14F-4D97-AF65-F5344CB8AC3E}">
        <p14:creationId xmlns:p14="http://schemas.microsoft.com/office/powerpoint/2010/main" val="3027367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547B6DB2-0CC1-4E3F-A59F-14514FC55285}"/>
              </a:ext>
            </a:extLst>
          </p:cNvPr>
          <p:cNvSpPr/>
          <p:nvPr/>
        </p:nvSpPr>
        <p:spPr>
          <a:xfrm rot="5400000">
            <a:off x="3272541" y="5262563"/>
            <a:ext cx="581025" cy="161925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0ABCF2EB-9A46-4668-A3A9-1559701052A2}"/>
              </a:ext>
            </a:extLst>
          </p:cNvPr>
          <p:cNvSpPr/>
          <p:nvPr/>
        </p:nvSpPr>
        <p:spPr>
          <a:xfrm>
            <a:off x="3355659" y="4351076"/>
            <a:ext cx="125686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Pfeil: nach rechts 12">
            <a:extLst>
              <a:ext uri="{FF2B5EF4-FFF2-40B4-BE49-F238E27FC236}">
                <a16:creationId xmlns:a16="http://schemas.microsoft.com/office/drawing/2014/main" id="{450DD977-C9E8-4005-AE12-72EF5716B9CB}"/>
              </a:ext>
            </a:extLst>
          </p:cNvPr>
          <p:cNvSpPr/>
          <p:nvPr/>
        </p:nvSpPr>
        <p:spPr>
          <a:xfrm>
            <a:off x="3293745" y="3271600"/>
            <a:ext cx="1318773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response-analyser.png</a:t>
            </a:r>
          </a:p>
        </p:txBody>
      </p:sp>
      <p:sp>
        <p:nvSpPr>
          <p:cNvPr id="4" name="Pfeil: nach rechts 3">
            <a:extLst>
              <a:ext uri="{FF2B5EF4-FFF2-40B4-BE49-F238E27FC236}">
                <a16:creationId xmlns:a16="http://schemas.microsoft.com/office/drawing/2014/main" id="{9F9BAA5E-6368-402F-A075-A399214FBCD8}"/>
              </a:ext>
            </a:extLst>
          </p:cNvPr>
          <p:cNvSpPr/>
          <p:nvPr/>
        </p:nvSpPr>
        <p:spPr>
          <a:xfrm rot="5400000">
            <a:off x="2944315" y="2249102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865482" y="2138628"/>
            <a:ext cx="912402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 (Variablen)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E68CA616-A0ED-4681-BB13-5AC00C9707F9}"/>
              </a:ext>
            </a:extLst>
          </p:cNvPr>
          <p:cNvSpPr/>
          <p:nvPr/>
        </p:nvSpPr>
        <p:spPr>
          <a:xfrm rot="5400000">
            <a:off x="2944315" y="3330861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CEA54E5-572E-4CCE-A5EF-D17BB6BA5FFC}"/>
              </a:ext>
            </a:extLst>
          </p:cNvPr>
          <p:cNvSpPr/>
          <p:nvPr/>
        </p:nvSpPr>
        <p:spPr>
          <a:xfrm>
            <a:off x="2865482" y="3208925"/>
            <a:ext cx="91240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kodierte 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6B49916C-9FB5-4D32-B4BD-F9242855DD09}"/>
              </a:ext>
            </a:extLst>
          </p:cNvPr>
          <p:cNvSpPr/>
          <p:nvPr/>
        </p:nvSpPr>
        <p:spPr>
          <a:xfrm>
            <a:off x="2483556" y="2807582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Autocoder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F5B0DB56-B8B8-4F09-B779-DBDCC2B8FBB8}"/>
              </a:ext>
            </a:extLst>
          </p:cNvPr>
          <p:cNvSpPr/>
          <p:nvPr/>
        </p:nvSpPr>
        <p:spPr>
          <a:xfrm>
            <a:off x="1558749" y="3881358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952B01B7-7CA7-4859-911C-8ED90D36D649}"/>
              </a:ext>
            </a:extLst>
          </p:cNvPr>
          <p:cNvSpPr/>
          <p:nvPr/>
        </p:nvSpPr>
        <p:spPr>
          <a:xfrm rot="5400000">
            <a:off x="2944314" y="4390458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BF43FF3-FD4D-4671-BBE2-2F5FFF6683B1}"/>
              </a:ext>
            </a:extLst>
          </p:cNvPr>
          <p:cNvSpPr/>
          <p:nvPr/>
        </p:nvSpPr>
        <p:spPr>
          <a:xfrm>
            <a:off x="2865481" y="4268522"/>
            <a:ext cx="91240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Item-Matrix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FC665028-AAC4-4D57-AEAD-4DB95B7E292B}"/>
              </a:ext>
            </a:extLst>
          </p:cNvPr>
          <p:cNvSpPr/>
          <p:nvPr/>
        </p:nvSpPr>
        <p:spPr>
          <a:xfrm>
            <a:off x="2483556" y="3881358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Itemwerte ableiten</a:t>
            </a:r>
          </a:p>
        </p:txBody>
      </p:sp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863A3B5F-DF6D-42E3-B140-36287F671703}"/>
              </a:ext>
            </a:extLst>
          </p:cNvPr>
          <p:cNvSpPr/>
          <p:nvPr/>
        </p:nvSpPr>
        <p:spPr>
          <a:xfrm>
            <a:off x="1558749" y="4926776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BE4BD864-25C8-4FB2-8119-D940D979F705}"/>
              </a:ext>
            </a:extLst>
          </p:cNvPr>
          <p:cNvSpPr/>
          <p:nvPr/>
        </p:nvSpPr>
        <p:spPr>
          <a:xfrm>
            <a:off x="2483556" y="492677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Skalenwerte ableiten</a:t>
            </a: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B7BEFAAF-3039-4C25-8A91-9764F8C2F4EC}"/>
              </a:ext>
            </a:extLst>
          </p:cNvPr>
          <p:cNvSpPr/>
          <p:nvPr/>
        </p:nvSpPr>
        <p:spPr>
          <a:xfrm>
            <a:off x="1558749" y="2815339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C023EEC-9FC4-4437-8575-93036B4F18E1}"/>
              </a:ext>
            </a:extLst>
          </p:cNvPr>
          <p:cNvSpPr/>
          <p:nvPr/>
        </p:nvSpPr>
        <p:spPr>
          <a:xfrm>
            <a:off x="650959" y="2604038"/>
            <a:ext cx="1391955" cy="3155038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>
                <a:solidFill>
                  <a:srgbClr val="405786"/>
                </a:solidFill>
              </a:rPr>
              <a:t>Assessment Package</a:t>
            </a:r>
          </a:p>
          <a:p>
            <a:endParaRPr lang="de-DE" sz="1600">
              <a:solidFill>
                <a:srgbClr val="405786"/>
              </a:solidFill>
            </a:endParaRPr>
          </a:p>
          <a:p>
            <a:endParaRPr lang="de-DE" sz="1600">
              <a:solidFill>
                <a:srgbClr val="405786"/>
              </a:solidFill>
            </a:endParaRPr>
          </a:p>
          <a:p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9160057-E182-4527-98B7-B0410D6C4443}"/>
              </a:ext>
            </a:extLst>
          </p:cNvPr>
          <p:cNvSpPr/>
          <p:nvPr/>
        </p:nvSpPr>
        <p:spPr>
          <a:xfrm>
            <a:off x="1376220" y="3819417"/>
            <a:ext cx="749160" cy="3997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Item-Liste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D5D6F1E-C581-4B54-9809-284B7E13817C}"/>
              </a:ext>
            </a:extLst>
          </p:cNvPr>
          <p:cNvSpPr/>
          <p:nvPr/>
        </p:nvSpPr>
        <p:spPr>
          <a:xfrm>
            <a:off x="1349198" y="4941205"/>
            <a:ext cx="808852" cy="2826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0B08DA1-F980-4E18-B4CC-577C8A1BE929}"/>
              </a:ext>
            </a:extLst>
          </p:cNvPr>
          <p:cNvSpPr/>
          <p:nvPr/>
        </p:nvSpPr>
        <p:spPr>
          <a:xfrm>
            <a:off x="1349198" y="2745011"/>
            <a:ext cx="80885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Kodier-Schema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5CD6CED-F4A9-4957-9DE7-BC2BF51D10A3}"/>
              </a:ext>
            </a:extLst>
          </p:cNvPr>
          <p:cNvSpPr/>
          <p:nvPr/>
        </p:nvSpPr>
        <p:spPr>
          <a:xfrm>
            <a:off x="4630015" y="2604038"/>
            <a:ext cx="1391955" cy="3155038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600">
                <a:solidFill>
                  <a:srgbClr val="405786"/>
                </a:solidFill>
              </a:rPr>
              <a:t>Speichern</a:t>
            </a:r>
          </a:p>
          <a:p>
            <a:pPr algn="r"/>
            <a:endParaRPr lang="de-DE" sz="1600">
              <a:solidFill>
                <a:srgbClr val="405786"/>
              </a:solidFill>
            </a:endParaRPr>
          </a:p>
          <a:p>
            <a:pPr algn="r"/>
            <a:r>
              <a:rPr lang="de-DE" sz="1600">
                <a:solidFill>
                  <a:srgbClr val="405786"/>
                </a:solidFill>
              </a:rPr>
              <a:t>Rückmeldung</a:t>
            </a:r>
          </a:p>
          <a:p>
            <a:pPr algn="r"/>
            <a:endParaRPr lang="de-DE" sz="1600">
              <a:solidFill>
                <a:srgbClr val="405786"/>
              </a:solidFill>
            </a:endParaRPr>
          </a:p>
          <a:p>
            <a:pPr algn="r"/>
            <a:r>
              <a:rPr lang="de-DE" sz="1600">
                <a:solidFill>
                  <a:srgbClr val="405786"/>
                </a:solidFill>
              </a:rPr>
              <a:t>Dashboard</a:t>
            </a:r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730BF83F-2D33-486E-AFF3-E44D1A0F53B8}"/>
              </a:ext>
            </a:extLst>
          </p:cNvPr>
          <p:cNvSpPr/>
          <p:nvPr/>
        </p:nvSpPr>
        <p:spPr>
          <a:xfrm>
            <a:off x="3480631" y="5398381"/>
            <a:ext cx="113188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AC898965-3275-4C70-80C3-A487C8B568E7}"/>
              </a:ext>
            </a:extLst>
          </p:cNvPr>
          <p:cNvSpPr/>
          <p:nvPr/>
        </p:nvSpPr>
        <p:spPr>
          <a:xfrm>
            <a:off x="3268270" y="5303452"/>
            <a:ext cx="129433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Personen-Fähigkeitswerte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6" name="Pfeil: nach rechts 35">
            <a:extLst>
              <a:ext uri="{FF2B5EF4-FFF2-40B4-BE49-F238E27FC236}">
                <a16:creationId xmlns:a16="http://schemas.microsoft.com/office/drawing/2014/main" id="{528C509C-B024-46F8-A594-7AAA73B99246}"/>
              </a:ext>
            </a:extLst>
          </p:cNvPr>
          <p:cNvSpPr/>
          <p:nvPr/>
        </p:nvSpPr>
        <p:spPr>
          <a:xfrm rot="16200000">
            <a:off x="2409548" y="5393561"/>
            <a:ext cx="59168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676FEC2-3FB2-4376-9EF4-EEA7811E1208}"/>
              </a:ext>
            </a:extLst>
          </p:cNvPr>
          <p:cNvSpPr/>
          <p:nvPr/>
        </p:nvSpPr>
        <p:spPr>
          <a:xfrm>
            <a:off x="2288938" y="5841478"/>
            <a:ext cx="646609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Zusatz-items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2C84FA60-ECCB-4D17-813F-49C831BF79BD}"/>
              </a:ext>
            </a:extLst>
          </p:cNvPr>
          <p:cNvSpPr/>
          <p:nvPr/>
        </p:nvSpPr>
        <p:spPr>
          <a:xfrm rot="16200000">
            <a:off x="2750597" y="5386689"/>
            <a:ext cx="59168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6DBFEC0-E32B-4C6A-895C-18974A3E5691}"/>
              </a:ext>
            </a:extLst>
          </p:cNvPr>
          <p:cNvSpPr/>
          <p:nvPr/>
        </p:nvSpPr>
        <p:spPr>
          <a:xfrm>
            <a:off x="2798534" y="5841478"/>
            <a:ext cx="806679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Fähigkeitswerte aus Vorjahr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7705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feil: nach rechts 55">
            <a:extLst>
              <a:ext uri="{FF2B5EF4-FFF2-40B4-BE49-F238E27FC236}">
                <a16:creationId xmlns:a16="http://schemas.microsoft.com/office/drawing/2014/main" id="{8E0770B1-0687-4AE4-A351-D91B3356585F}"/>
              </a:ext>
            </a:extLst>
          </p:cNvPr>
          <p:cNvSpPr/>
          <p:nvPr/>
        </p:nvSpPr>
        <p:spPr>
          <a:xfrm rot="10800000" flipH="1">
            <a:off x="2420232" y="225676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Pfeil: nach rechts 52">
            <a:extLst>
              <a:ext uri="{FF2B5EF4-FFF2-40B4-BE49-F238E27FC236}">
                <a16:creationId xmlns:a16="http://schemas.microsoft.com/office/drawing/2014/main" id="{6782127F-7395-40D6-BBE4-A9C252840B16}"/>
              </a:ext>
            </a:extLst>
          </p:cNvPr>
          <p:cNvSpPr/>
          <p:nvPr/>
        </p:nvSpPr>
        <p:spPr>
          <a:xfrm rot="10800000">
            <a:off x="2583262" y="2938205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Pfeil: nach rechts 51">
            <a:extLst>
              <a:ext uri="{FF2B5EF4-FFF2-40B4-BE49-F238E27FC236}">
                <a16:creationId xmlns:a16="http://schemas.microsoft.com/office/drawing/2014/main" id="{D596ED4A-B066-47F3-883E-6B929CE5C9D4}"/>
              </a:ext>
            </a:extLst>
          </p:cNvPr>
          <p:cNvSpPr/>
          <p:nvPr/>
        </p:nvSpPr>
        <p:spPr>
          <a:xfrm rot="10800000" flipH="1">
            <a:off x="2420232" y="3192469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Pfeil: nach rechts 46">
            <a:extLst>
              <a:ext uri="{FF2B5EF4-FFF2-40B4-BE49-F238E27FC236}">
                <a16:creationId xmlns:a16="http://schemas.microsoft.com/office/drawing/2014/main" id="{95CEDEDB-F285-455A-8EB9-7D990A4BA321}"/>
              </a:ext>
            </a:extLst>
          </p:cNvPr>
          <p:cNvSpPr/>
          <p:nvPr/>
        </p:nvSpPr>
        <p:spPr>
          <a:xfrm rot="10800000" flipH="1">
            <a:off x="2420232" y="440485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Pfeil: nach rechts 44">
            <a:extLst>
              <a:ext uri="{FF2B5EF4-FFF2-40B4-BE49-F238E27FC236}">
                <a16:creationId xmlns:a16="http://schemas.microsoft.com/office/drawing/2014/main" id="{808225D5-188F-4A8B-B9BC-8EBEB9AFF2DE}"/>
              </a:ext>
            </a:extLst>
          </p:cNvPr>
          <p:cNvSpPr/>
          <p:nvPr/>
        </p:nvSpPr>
        <p:spPr>
          <a:xfrm rot="10800000">
            <a:off x="2586771" y="3752796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response-analyser-vera.png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660399" y="2950619"/>
            <a:ext cx="1272142" cy="312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Testhefte, Logins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55A149B1-1B8A-4A2A-A04E-957240767D97}"/>
              </a:ext>
            </a:extLst>
          </p:cNvPr>
          <p:cNvSpPr/>
          <p:nvPr/>
        </p:nvSpPr>
        <p:spPr>
          <a:xfrm>
            <a:off x="584462" y="2938048"/>
            <a:ext cx="1934113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IQB-Testcenter</a:t>
            </a:r>
            <a:endParaRPr lang="de-DE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18CDCB2C-10D5-4159-8DD6-1628F42C8F1C}"/>
              </a:ext>
            </a:extLst>
          </p:cNvPr>
          <p:cNvSpPr/>
          <p:nvPr/>
        </p:nvSpPr>
        <p:spPr>
          <a:xfrm>
            <a:off x="584462" y="3776488"/>
            <a:ext cx="1934114" cy="961458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IQB-ResponseAnalyser</a:t>
            </a:r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60FA52C-E5FD-4D73-BD0B-066F95104E73}"/>
              </a:ext>
            </a:extLst>
          </p:cNvPr>
          <p:cNvSpPr/>
          <p:nvPr/>
        </p:nvSpPr>
        <p:spPr>
          <a:xfrm>
            <a:off x="3976878" y="2080260"/>
            <a:ext cx="2230163" cy="355854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169B987-A534-4CB7-A1B9-63A9F65E37E4}"/>
              </a:ext>
            </a:extLst>
          </p:cNvPr>
          <p:cNvSpPr/>
          <p:nvPr/>
        </p:nvSpPr>
        <p:spPr>
          <a:xfrm>
            <a:off x="4124904" y="3182935"/>
            <a:ext cx="1878368" cy="404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Antworten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6AA9122-78A1-4FE7-93DE-AF0FC8D3F9F2}"/>
              </a:ext>
            </a:extLst>
          </p:cNvPr>
          <p:cNvSpPr/>
          <p:nvPr/>
        </p:nvSpPr>
        <p:spPr>
          <a:xfrm>
            <a:off x="4124904" y="3614576"/>
            <a:ext cx="1942950" cy="5040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Zusammenfassung von Personendaten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9FDE0028-0EE4-4C14-9A21-5BA76FD49DBA}"/>
              </a:ext>
            </a:extLst>
          </p:cNvPr>
          <p:cNvSpPr/>
          <p:nvPr/>
        </p:nvSpPr>
        <p:spPr>
          <a:xfrm>
            <a:off x="4143415" y="2165014"/>
            <a:ext cx="1897087" cy="491386"/>
          </a:xfrm>
          <a:prstGeom prst="roundRect">
            <a:avLst/>
          </a:prstGeom>
          <a:solidFill>
            <a:srgbClr val="7D1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Landesportalsystem</a:t>
            </a:r>
            <a:endParaRPr lang="de-DE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B9FEF30-B504-4280-9D45-C365E076D20C}"/>
              </a:ext>
            </a:extLst>
          </p:cNvPr>
          <p:cNvSpPr/>
          <p:nvPr/>
        </p:nvSpPr>
        <p:spPr>
          <a:xfrm>
            <a:off x="4124904" y="4078823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Manuelle Kodierung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1699080-069A-4BBF-89B5-ECD97458B24F}"/>
              </a:ext>
            </a:extLst>
          </p:cNvPr>
          <p:cNvSpPr/>
          <p:nvPr/>
        </p:nvSpPr>
        <p:spPr>
          <a:xfrm>
            <a:off x="4124904" y="2753811"/>
            <a:ext cx="1676258" cy="4367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Zuweisung Personen zu Testheften</a:t>
            </a:r>
          </a:p>
        </p:txBody>
      </p:sp>
      <p:sp>
        <p:nvSpPr>
          <p:cNvPr id="42" name="Pfeil: nach links und rechts 41">
            <a:extLst>
              <a:ext uri="{FF2B5EF4-FFF2-40B4-BE49-F238E27FC236}">
                <a16:creationId xmlns:a16="http://schemas.microsoft.com/office/drawing/2014/main" id="{DB134E8A-B06F-4954-956A-97E7E41D151E}"/>
              </a:ext>
            </a:extLst>
          </p:cNvPr>
          <p:cNvSpPr/>
          <p:nvPr/>
        </p:nvSpPr>
        <p:spPr>
          <a:xfrm rot="10800000">
            <a:off x="2586772" y="4078823"/>
            <a:ext cx="1356617" cy="317898"/>
          </a:xfrm>
          <a:prstGeom prst="left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9E45DD8-5AC8-452A-8CF4-54F340B0E071}"/>
              </a:ext>
            </a:extLst>
          </p:cNvPr>
          <p:cNvSpPr/>
          <p:nvPr/>
        </p:nvSpPr>
        <p:spPr>
          <a:xfrm>
            <a:off x="2747770" y="3211688"/>
            <a:ext cx="912402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47F9071-D586-4080-ACEF-639E7E083537}"/>
              </a:ext>
            </a:extLst>
          </p:cNvPr>
          <p:cNvSpPr/>
          <p:nvPr/>
        </p:nvSpPr>
        <p:spPr>
          <a:xfrm>
            <a:off x="2747770" y="3774276"/>
            <a:ext cx="912402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E0FABDF-2317-4303-A7BD-8A147CEB1B88}"/>
              </a:ext>
            </a:extLst>
          </p:cNvPr>
          <p:cNvSpPr/>
          <p:nvPr/>
        </p:nvSpPr>
        <p:spPr>
          <a:xfrm>
            <a:off x="2672838" y="4424605"/>
            <a:ext cx="1062267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9E0FAA92-76A1-43B5-A73E-501E6515C764}"/>
              </a:ext>
            </a:extLst>
          </p:cNvPr>
          <p:cNvSpPr/>
          <p:nvPr/>
        </p:nvSpPr>
        <p:spPr>
          <a:xfrm>
            <a:off x="4124904" y="5305424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Rückmeldung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F10F39A-DEE5-417F-91DF-57AC6B95C10E}"/>
              </a:ext>
            </a:extLst>
          </p:cNvPr>
          <p:cNvSpPr/>
          <p:nvPr/>
        </p:nvSpPr>
        <p:spPr>
          <a:xfrm>
            <a:off x="4124904" y="441374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in eigene Skalen</a:t>
            </a: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09971D6-DD97-4ABD-8807-E42A785D7F03}"/>
              </a:ext>
            </a:extLst>
          </p:cNvPr>
          <p:cNvCxnSpPr>
            <a:cxnSpLocks/>
          </p:cNvCxnSpPr>
          <p:nvPr/>
        </p:nvCxnSpPr>
        <p:spPr>
          <a:xfrm>
            <a:off x="4124904" y="3197114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63E6CDF-7D22-41DD-9734-C92BED2F0A28}"/>
              </a:ext>
            </a:extLst>
          </p:cNvPr>
          <p:cNvCxnSpPr>
            <a:cxnSpLocks/>
          </p:cNvCxnSpPr>
          <p:nvPr/>
        </p:nvCxnSpPr>
        <p:spPr>
          <a:xfrm>
            <a:off x="4124904" y="4379976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9E56569-12D7-4838-9C41-290707F74D50}"/>
              </a:ext>
            </a:extLst>
          </p:cNvPr>
          <p:cNvSpPr/>
          <p:nvPr/>
        </p:nvSpPr>
        <p:spPr>
          <a:xfrm>
            <a:off x="4124904" y="482206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Aggregationen Personengruppen</a:t>
            </a:r>
          </a:p>
        </p:txBody>
      </p:sp>
      <p:sp>
        <p:nvSpPr>
          <p:cNvPr id="55" name="Rechteck: abgerundete Ecken 54">
            <a:extLst>
              <a:ext uri="{FF2B5EF4-FFF2-40B4-BE49-F238E27FC236}">
                <a16:creationId xmlns:a16="http://schemas.microsoft.com/office/drawing/2014/main" id="{D80FD2EA-39F5-4A60-B97E-43A066217136}"/>
              </a:ext>
            </a:extLst>
          </p:cNvPr>
          <p:cNvSpPr/>
          <p:nvPr/>
        </p:nvSpPr>
        <p:spPr>
          <a:xfrm>
            <a:off x="584462" y="2128711"/>
            <a:ext cx="1934113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IQB-ContentHub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4F292E1B-316F-4BB3-B8A9-D3804172848E}"/>
              </a:ext>
            </a:extLst>
          </p:cNvPr>
          <p:cNvSpPr/>
          <p:nvPr/>
        </p:nvSpPr>
        <p:spPr>
          <a:xfrm>
            <a:off x="2620175" y="2179648"/>
            <a:ext cx="1130749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Assessment Package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3015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feil: nach rechts 55">
            <a:extLst>
              <a:ext uri="{FF2B5EF4-FFF2-40B4-BE49-F238E27FC236}">
                <a16:creationId xmlns:a16="http://schemas.microsoft.com/office/drawing/2014/main" id="{8E0770B1-0687-4AE4-A351-D91B3356585F}"/>
              </a:ext>
            </a:extLst>
          </p:cNvPr>
          <p:cNvSpPr/>
          <p:nvPr/>
        </p:nvSpPr>
        <p:spPr>
          <a:xfrm rot="10800000" flipH="1">
            <a:off x="2420232" y="225676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Pfeil: nach rechts 52">
            <a:extLst>
              <a:ext uri="{FF2B5EF4-FFF2-40B4-BE49-F238E27FC236}">
                <a16:creationId xmlns:a16="http://schemas.microsoft.com/office/drawing/2014/main" id="{6782127F-7395-40D6-BBE4-A9C252840B16}"/>
              </a:ext>
            </a:extLst>
          </p:cNvPr>
          <p:cNvSpPr/>
          <p:nvPr/>
        </p:nvSpPr>
        <p:spPr>
          <a:xfrm rot="10800000">
            <a:off x="2583262" y="2938205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Pfeil: nach rechts 51">
            <a:extLst>
              <a:ext uri="{FF2B5EF4-FFF2-40B4-BE49-F238E27FC236}">
                <a16:creationId xmlns:a16="http://schemas.microsoft.com/office/drawing/2014/main" id="{D596ED4A-B066-47F3-883E-6B929CE5C9D4}"/>
              </a:ext>
            </a:extLst>
          </p:cNvPr>
          <p:cNvSpPr/>
          <p:nvPr/>
        </p:nvSpPr>
        <p:spPr>
          <a:xfrm rot="10800000" flipH="1">
            <a:off x="2420232" y="3192469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Pfeil: nach rechts 46">
            <a:extLst>
              <a:ext uri="{FF2B5EF4-FFF2-40B4-BE49-F238E27FC236}">
                <a16:creationId xmlns:a16="http://schemas.microsoft.com/office/drawing/2014/main" id="{95CEDEDB-F285-455A-8EB9-7D990A4BA321}"/>
              </a:ext>
            </a:extLst>
          </p:cNvPr>
          <p:cNvSpPr/>
          <p:nvPr/>
        </p:nvSpPr>
        <p:spPr>
          <a:xfrm rot="10800000" flipH="1">
            <a:off x="2420232" y="424483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Pfeil: nach rechts 44">
            <a:extLst>
              <a:ext uri="{FF2B5EF4-FFF2-40B4-BE49-F238E27FC236}">
                <a16:creationId xmlns:a16="http://schemas.microsoft.com/office/drawing/2014/main" id="{808225D5-188F-4A8B-B9BC-8EBEB9AFF2DE}"/>
              </a:ext>
            </a:extLst>
          </p:cNvPr>
          <p:cNvSpPr/>
          <p:nvPr/>
        </p:nvSpPr>
        <p:spPr>
          <a:xfrm rot="10800000">
            <a:off x="2586771" y="3928056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response-analyser-stars.png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660399" y="2950619"/>
            <a:ext cx="1272142" cy="312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Testhefte, Logins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55A149B1-1B8A-4A2A-A04E-957240767D97}"/>
              </a:ext>
            </a:extLst>
          </p:cNvPr>
          <p:cNvSpPr/>
          <p:nvPr/>
        </p:nvSpPr>
        <p:spPr>
          <a:xfrm>
            <a:off x="565608" y="2938048"/>
            <a:ext cx="1952967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IQB-Testcenter</a:t>
            </a:r>
            <a:endParaRPr lang="de-DE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18CDCB2C-10D5-4159-8DD6-1628F42C8F1C}"/>
              </a:ext>
            </a:extLst>
          </p:cNvPr>
          <p:cNvSpPr/>
          <p:nvPr/>
        </p:nvSpPr>
        <p:spPr>
          <a:xfrm>
            <a:off x="565608" y="3776488"/>
            <a:ext cx="1952967" cy="961458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IQB-ResponseAnalyser</a:t>
            </a:r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60FA52C-E5FD-4D73-BD0B-066F95104E73}"/>
              </a:ext>
            </a:extLst>
          </p:cNvPr>
          <p:cNvSpPr/>
          <p:nvPr/>
        </p:nvSpPr>
        <p:spPr>
          <a:xfrm>
            <a:off x="3976878" y="2080260"/>
            <a:ext cx="2230163" cy="2983101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169B987-A534-4CB7-A1B9-63A9F65E37E4}"/>
              </a:ext>
            </a:extLst>
          </p:cNvPr>
          <p:cNvSpPr/>
          <p:nvPr/>
        </p:nvSpPr>
        <p:spPr>
          <a:xfrm>
            <a:off x="4124904" y="3182935"/>
            <a:ext cx="1878368" cy="404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Antworten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6AA9122-78A1-4FE7-93DE-AF0FC8D3F9F2}"/>
              </a:ext>
            </a:extLst>
          </p:cNvPr>
          <p:cNvSpPr/>
          <p:nvPr/>
        </p:nvSpPr>
        <p:spPr>
          <a:xfrm>
            <a:off x="4124904" y="3820316"/>
            <a:ext cx="1942950" cy="5040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Zusammenfassung von Personendaten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9FDE0028-0EE4-4C14-9A21-5BA76FD49DBA}"/>
              </a:ext>
            </a:extLst>
          </p:cNvPr>
          <p:cNvSpPr/>
          <p:nvPr/>
        </p:nvSpPr>
        <p:spPr>
          <a:xfrm>
            <a:off x="4143415" y="2165014"/>
            <a:ext cx="1897087" cy="491386"/>
          </a:xfrm>
          <a:prstGeom prst="roundRect">
            <a:avLst/>
          </a:prstGeom>
          <a:solidFill>
            <a:srgbClr val="7D1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Landesportalsystem</a:t>
            </a:r>
            <a:endParaRPr lang="de-DE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1699080-069A-4BBF-89B5-ECD97458B24F}"/>
              </a:ext>
            </a:extLst>
          </p:cNvPr>
          <p:cNvSpPr/>
          <p:nvPr/>
        </p:nvSpPr>
        <p:spPr>
          <a:xfrm>
            <a:off x="4124904" y="2753811"/>
            <a:ext cx="1676258" cy="4367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Zuweisung Personen zu Testheften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9E45DD8-5AC8-452A-8CF4-54F340B0E071}"/>
              </a:ext>
            </a:extLst>
          </p:cNvPr>
          <p:cNvSpPr/>
          <p:nvPr/>
        </p:nvSpPr>
        <p:spPr>
          <a:xfrm>
            <a:off x="2747770" y="3211688"/>
            <a:ext cx="912402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47F9071-D586-4080-ACEF-639E7E083537}"/>
              </a:ext>
            </a:extLst>
          </p:cNvPr>
          <p:cNvSpPr/>
          <p:nvPr/>
        </p:nvSpPr>
        <p:spPr>
          <a:xfrm>
            <a:off x="2747770" y="3949536"/>
            <a:ext cx="912402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E0FABDF-2317-4303-A7BD-8A147CEB1B88}"/>
              </a:ext>
            </a:extLst>
          </p:cNvPr>
          <p:cNvSpPr/>
          <p:nvPr/>
        </p:nvSpPr>
        <p:spPr>
          <a:xfrm>
            <a:off x="2672838" y="4264585"/>
            <a:ext cx="1062267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9E0FAA92-76A1-43B5-A73E-501E6515C764}"/>
              </a:ext>
            </a:extLst>
          </p:cNvPr>
          <p:cNvSpPr/>
          <p:nvPr/>
        </p:nvSpPr>
        <p:spPr>
          <a:xfrm>
            <a:off x="4124904" y="4726304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Rückmeldung</a:t>
            </a: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09971D6-DD97-4ABD-8807-E42A785D7F03}"/>
              </a:ext>
            </a:extLst>
          </p:cNvPr>
          <p:cNvCxnSpPr>
            <a:cxnSpLocks/>
          </p:cNvCxnSpPr>
          <p:nvPr/>
        </p:nvCxnSpPr>
        <p:spPr>
          <a:xfrm>
            <a:off x="4124904" y="3197114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63E6CDF-7D22-41DD-9734-C92BED2F0A28}"/>
              </a:ext>
            </a:extLst>
          </p:cNvPr>
          <p:cNvCxnSpPr>
            <a:cxnSpLocks/>
          </p:cNvCxnSpPr>
          <p:nvPr/>
        </p:nvCxnSpPr>
        <p:spPr>
          <a:xfrm>
            <a:off x="4124904" y="4250436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9E56569-12D7-4838-9C41-290707F74D50}"/>
              </a:ext>
            </a:extLst>
          </p:cNvPr>
          <p:cNvSpPr/>
          <p:nvPr/>
        </p:nvSpPr>
        <p:spPr>
          <a:xfrm>
            <a:off x="4124904" y="424294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Aggregationen Personengruppen</a:t>
            </a:r>
          </a:p>
        </p:txBody>
      </p:sp>
      <p:sp>
        <p:nvSpPr>
          <p:cNvPr id="55" name="Rechteck: abgerundete Ecken 54">
            <a:extLst>
              <a:ext uri="{FF2B5EF4-FFF2-40B4-BE49-F238E27FC236}">
                <a16:creationId xmlns:a16="http://schemas.microsoft.com/office/drawing/2014/main" id="{D80FD2EA-39F5-4A60-B97E-43A066217136}"/>
              </a:ext>
            </a:extLst>
          </p:cNvPr>
          <p:cNvSpPr/>
          <p:nvPr/>
        </p:nvSpPr>
        <p:spPr>
          <a:xfrm>
            <a:off x="565608" y="2136331"/>
            <a:ext cx="1952967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IQB-ContentHub</a:t>
            </a:r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4F292E1B-316F-4BB3-B8A9-D3804172848E}"/>
              </a:ext>
            </a:extLst>
          </p:cNvPr>
          <p:cNvSpPr/>
          <p:nvPr/>
        </p:nvSpPr>
        <p:spPr>
          <a:xfrm>
            <a:off x="2620175" y="2179648"/>
            <a:ext cx="1130749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Assessment Package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1817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65118E-31D4-4331-9C25-009701848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booklet-structure.png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E558467-B3F4-4A05-828A-3DD593F7168D}"/>
              </a:ext>
            </a:extLst>
          </p:cNvPr>
          <p:cNvSpPr/>
          <p:nvPr/>
        </p:nvSpPr>
        <p:spPr>
          <a:xfrm>
            <a:off x="650959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>
                <a:solidFill>
                  <a:srgbClr val="405786"/>
                </a:solidFill>
              </a:rPr>
              <a:t>Testheft 1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E3D1E40-06BD-4A0F-92D8-C2261B665773}"/>
              </a:ext>
            </a:extLst>
          </p:cNvPr>
          <p:cNvSpPr/>
          <p:nvPr/>
        </p:nvSpPr>
        <p:spPr>
          <a:xfrm>
            <a:off x="781843" y="2981853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1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A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B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C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8DA2B19-A799-499D-9544-537F1372B927}"/>
              </a:ext>
            </a:extLst>
          </p:cNvPr>
          <p:cNvSpPr/>
          <p:nvPr/>
        </p:nvSpPr>
        <p:spPr>
          <a:xfrm>
            <a:off x="781843" y="4379988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2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D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E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F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A485D1C-EC3D-4C7C-8EDE-133F11ED8FF4}"/>
              </a:ext>
            </a:extLst>
          </p:cNvPr>
          <p:cNvSpPr/>
          <p:nvPr/>
        </p:nvSpPr>
        <p:spPr>
          <a:xfrm>
            <a:off x="4047897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>
                <a:solidFill>
                  <a:srgbClr val="405786"/>
                </a:solidFill>
              </a:rPr>
              <a:t>Testheft 2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DF4EF8D-0812-476F-9662-390793A58462}"/>
              </a:ext>
            </a:extLst>
          </p:cNvPr>
          <p:cNvSpPr/>
          <p:nvPr/>
        </p:nvSpPr>
        <p:spPr>
          <a:xfrm>
            <a:off x="4178781" y="2981853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1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A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B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C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393D6E7-539A-4437-9A43-0DFB51EBC4A3}"/>
              </a:ext>
            </a:extLst>
          </p:cNvPr>
          <p:cNvSpPr/>
          <p:nvPr/>
        </p:nvSpPr>
        <p:spPr>
          <a:xfrm>
            <a:off x="4178781" y="4379988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3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D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G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H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B0677E0-1E08-425A-B3AB-6ED4E6D704E7}"/>
              </a:ext>
            </a:extLst>
          </p:cNvPr>
          <p:cNvSpPr/>
          <p:nvPr/>
        </p:nvSpPr>
        <p:spPr>
          <a:xfrm>
            <a:off x="2349428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 b="1">
                <a:solidFill>
                  <a:srgbClr val="405786"/>
                </a:solidFill>
              </a:rPr>
              <a:t>Items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A1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A2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B1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B2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C1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D1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D2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E1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F1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G1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H1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H2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2D2D9AE-8439-4737-8314-DAAC6038DCE5}"/>
              </a:ext>
            </a:extLst>
          </p:cNvPr>
          <p:cNvCxnSpPr>
            <a:cxnSpLocks/>
          </p:cNvCxnSpPr>
          <p:nvPr/>
        </p:nvCxnSpPr>
        <p:spPr>
          <a:xfrm flipV="1">
            <a:off x="1811494" y="3033166"/>
            <a:ext cx="1100092" cy="58779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F5B54DDE-64D6-48FC-AA0C-8AC6EC280DB2}"/>
              </a:ext>
            </a:extLst>
          </p:cNvPr>
          <p:cNvCxnSpPr>
            <a:cxnSpLocks/>
          </p:cNvCxnSpPr>
          <p:nvPr/>
        </p:nvCxnSpPr>
        <p:spPr>
          <a:xfrm flipV="1">
            <a:off x="1811494" y="3275280"/>
            <a:ext cx="1100092" cy="338909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7676A310-B9D1-4130-8172-6409612596A7}"/>
              </a:ext>
            </a:extLst>
          </p:cNvPr>
          <p:cNvCxnSpPr>
            <a:cxnSpLocks/>
          </p:cNvCxnSpPr>
          <p:nvPr/>
        </p:nvCxnSpPr>
        <p:spPr>
          <a:xfrm flipV="1">
            <a:off x="1805940" y="3521922"/>
            <a:ext cx="1105646" cy="34205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0D4501E8-A547-407F-A316-96E18564B4D9}"/>
              </a:ext>
            </a:extLst>
          </p:cNvPr>
          <p:cNvCxnSpPr>
            <a:cxnSpLocks/>
          </p:cNvCxnSpPr>
          <p:nvPr/>
        </p:nvCxnSpPr>
        <p:spPr>
          <a:xfrm flipV="1">
            <a:off x="1811494" y="4737606"/>
            <a:ext cx="1100092" cy="51248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9907D990-9745-423D-A714-FC6614CA62B2}"/>
              </a:ext>
            </a:extLst>
          </p:cNvPr>
          <p:cNvCxnSpPr>
            <a:cxnSpLocks/>
          </p:cNvCxnSpPr>
          <p:nvPr/>
        </p:nvCxnSpPr>
        <p:spPr>
          <a:xfrm flipV="1">
            <a:off x="1801099" y="3761391"/>
            <a:ext cx="1110487" cy="102585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6B1B72B2-BD02-4589-B507-6AFC98E233DB}"/>
              </a:ext>
            </a:extLst>
          </p:cNvPr>
          <p:cNvCxnSpPr>
            <a:cxnSpLocks/>
          </p:cNvCxnSpPr>
          <p:nvPr/>
        </p:nvCxnSpPr>
        <p:spPr>
          <a:xfrm flipV="1">
            <a:off x="1811494" y="4006719"/>
            <a:ext cx="1100092" cy="90022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BA077487-7D9A-4C38-B805-7E31F859DFC9}"/>
              </a:ext>
            </a:extLst>
          </p:cNvPr>
          <p:cNvCxnSpPr>
            <a:cxnSpLocks/>
          </p:cNvCxnSpPr>
          <p:nvPr/>
        </p:nvCxnSpPr>
        <p:spPr>
          <a:xfrm flipV="1">
            <a:off x="1801099" y="4239484"/>
            <a:ext cx="1110487" cy="76257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EB0279D-8E8D-4988-8297-D998AA874313}"/>
              </a:ext>
            </a:extLst>
          </p:cNvPr>
          <p:cNvCxnSpPr>
            <a:cxnSpLocks/>
          </p:cNvCxnSpPr>
          <p:nvPr/>
        </p:nvCxnSpPr>
        <p:spPr>
          <a:xfrm flipV="1">
            <a:off x="1796539" y="4504335"/>
            <a:ext cx="1115047" cy="497725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0B108F28-E346-409E-819D-E7C8BC5163B2}"/>
              </a:ext>
            </a:extLst>
          </p:cNvPr>
          <p:cNvCxnSpPr>
            <a:cxnSpLocks/>
          </p:cNvCxnSpPr>
          <p:nvPr/>
        </p:nvCxnSpPr>
        <p:spPr>
          <a:xfrm flipV="1">
            <a:off x="1805940" y="4987579"/>
            <a:ext cx="1101087" cy="467391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E68EBDF-3F0E-4840-B20F-8D94C18DFF61}"/>
              </a:ext>
            </a:extLst>
          </p:cNvPr>
          <p:cNvCxnSpPr>
            <a:cxnSpLocks/>
          </p:cNvCxnSpPr>
          <p:nvPr/>
        </p:nvCxnSpPr>
        <p:spPr>
          <a:xfrm flipH="1" flipV="1">
            <a:off x="3298090" y="3023530"/>
            <a:ext cx="1181082" cy="58896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1F2EB59A-7A07-4FB7-9F1C-C614E926D90A}"/>
              </a:ext>
            </a:extLst>
          </p:cNvPr>
          <p:cNvCxnSpPr>
            <a:cxnSpLocks/>
          </p:cNvCxnSpPr>
          <p:nvPr/>
        </p:nvCxnSpPr>
        <p:spPr>
          <a:xfrm flipH="1" flipV="1">
            <a:off x="3298092" y="3267668"/>
            <a:ext cx="1181080" cy="346521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FC95D828-90F6-4E54-BCA9-CC499045CA14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3755071"/>
            <a:ext cx="1167965" cy="114388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3C522A01-8017-4B74-8A83-E902ABB1745B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4234786"/>
            <a:ext cx="1167965" cy="767274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672C0FD4-B873-4F4F-9B16-CC59CB990DCC}"/>
              </a:ext>
            </a:extLst>
          </p:cNvPr>
          <p:cNvCxnSpPr>
            <a:cxnSpLocks/>
          </p:cNvCxnSpPr>
          <p:nvPr/>
        </p:nvCxnSpPr>
        <p:spPr>
          <a:xfrm flipH="1" flipV="1">
            <a:off x="3298091" y="3509842"/>
            <a:ext cx="1172527" cy="367900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A4A6EA9C-3E5E-4A85-A57C-DDFF20B2DE1B}"/>
              </a:ext>
            </a:extLst>
          </p:cNvPr>
          <p:cNvCxnSpPr>
            <a:cxnSpLocks/>
          </p:cNvCxnSpPr>
          <p:nvPr/>
        </p:nvCxnSpPr>
        <p:spPr>
          <a:xfrm flipH="1" flipV="1">
            <a:off x="3302652" y="3996155"/>
            <a:ext cx="1176520" cy="10058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11BB2140-0D68-4A55-BEC3-FBBDC76B3FC0}"/>
              </a:ext>
            </a:extLst>
          </p:cNvPr>
          <p:cNvCxnSpPr>
            <a:cxnSpLocks/>
          </p:cNvCxnSpPr>
          <p:nvPr/>
        </p:nvCxnSpPr>
        <p:spPr>
          <a:xfrm flipH="1" flipV="1">
            <a:off x="3298090" y="5215758"/>
            <a:ext cx="1213585" cy="22957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F0D5928D-7D1B-4A45-8188-41A8AAB2DBEA}"/>
              </a:ext>
            </a:extLst>
          </p:cNvPr>
          <p:cNvCxnSpPr>
            <a:cxnSpLocks/>
          </p:cNvCxnSpPr>
          <p:nvPr/>
        </p:nvCxnSpPr>
        <p:spPr>
          <a:xfrm flipH="1" flipV="1">
            <a:off x="3302652" y="5450709"/>
            <a:ext cx="1209024" cy="6553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E0F9FB7-847B-4C98-BB72-02A2DA9F1407}"/>
              </a:ext>
            </a:extLst>
          </p:cNvPr>
          <p:cNvCxnSpPr>
            <a:cxnSpLocks/>
          </p:cNvCxnSpPr>
          <p:nvPr/>
        </p:nvCxnSpPr>
        <p:spPr>
          <a:xfrm flipH="1">
            <a:off x="3302652" y="5510690"/>
            <a:ext cx="1209023" cy="176567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59B7043D-7BF0-413E-AA4E-1BB4DAD71BE6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4503550"/>
            <a:ext cx="1176519" cy="498510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1731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links und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68300" y="2627138"/>
            <a:ext cx="933542" cy="317898"/>
          </a:xfrm>
          <a:prstGeom prst="left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content-hub1.png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68815" y="2604283"/>
            <a:ext cx="912402" cy="256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2435072" y="5342284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link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210439" y="2686662"/>
            <a:ext cx="1065792" cy="317898"/>
          </a:xfrm>
          <a:prstGeom prst="lef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1D19F10A-674D-4908-9A18-FDAD3BD7BEDC}"/>
              </a:ext>
            </a:extLst>
          </p:cNvPr>
          <p:cNvSpPr/>
          <p:nvPr/>
        </p:nvSpPr>
        <p:spPr>
          <a:xfrm>
            <a:off x="1365847" y="2044000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IQB-Studio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B3200A0-8EF8-4FFF-B02C-41172859B333}"/>
              </a:ext>
            </a:extLst>
          </p:cNvPr>
          <p:cNvSpPr/>
          <p:nvPr/>
        </p:nvSpPr>
        <p:spPr>
          <a:xfrm>
            <a:off x="3408092" y="2038168"/>
            <a:ext cx="1800154" cy="31810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Länder-Durchführung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449000" y="257824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Assessment Package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2651901" y="4344640"/>
            <a:ext cx="181931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347880" y="4336905"/>
            <a:ext cx="1836493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4325604" y="3972049"/>
            <a:ext cx="80202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4321033" y="4977845"/>
            <a:ext cx="84459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877192" y="5363651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42179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  <p:sp>
        <p:nvSpPr>
          <p:cNvPr id="12" name="Flussdiagramm: Magnetplattenspeicher 11">
            <a:extLst>
              <a:ext uri="{FF2B5EF4-FFF2-40B4-BE49-F238E27FC236}">
                <a16:creationId xmlns:a16="http://schemas.microsoft.com/office/drawing/2014/main" id="{F796BA9E-5480-793C-C4A2-8A734E31A83C}"/>
              </a:ext>
            </a:extLst>
          </p:cNvPr>
          <p:cNvSpPr/>
          <p:nvPr/>
        </p:nvSpPr>
        <p:spPr>
          <a:xfrm>
            <a:off x="5148991" y="5845787"/>
            <a:ext cx="986740" cy="944880"/>
          </a:xfrm>
          <a:prstGeom prst="flowChartMagneticDisk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Daten-Archiv</a:t>
            </a:r>
          </a:p>
        </p:txBody>
      </p:sp>
      <p:sp>
        <p:nvSpPr>
          <p:cNvPr id="3" name="Pfeil: nach rechts 2">
            <a:extLst>
              <a:ext uri="{FF2B5EF4-FFF2-40B4-BE49-F238E27FC236}">
                <a16:creationId xmlns:a16="http://schemas.microsoft.com/office/drawing/2014/main" id="{1079D243-BA3D-E2A7-7F1D-465FB352B90A}"/>
              </a:ext>
            </a:extLst>
          </p:cNvPr>
          <p:cNvSpPr/>
          <p:nvPr/>
        </p:nvSpPr>
        <p:spPr>
          <a:xfrm rot="5400000">
            <a:off x="4864600" y="5159826"/>
            <a:ext cx="1555523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674826" y="4420930"/>
            <a:ext cx="1387562" cy="31810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eatPrepTBA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BA86029-B693-FD41-5370-C38B7BF743FB}"/>
              </a:ext>
            </a:extLst>
          </p:cNvPr>
          <p:cNvSpPr/>
          <p:nvPr/>
        </p:nvSpPr>
        <p:spPr>
          <a:xfrm>
            <a:off x="4330789" y="4878635"/>
            <a:ext cx="866143" cy="4561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kodierte 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27ED717-A731-F8F3-4893-8FBB71998940}"/>
              </a:ext>
            </a:extLst>
          </p:cNvPr>
          <p:cNvSpPr/>
          <p:nvPr/>
        </p:nvSpPr>
        <p:spPr>
          <a:xfrm>
            <a:off x="5490159" y="4915216"/>
            <a:ext cx="895401" cy="8912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Antworten, Itemdaten,</a:t>
            </a:r>
          </a:p>
          <a:p>
            <a:pPr algn="ctr"/>
            <a:r>
              <a:rPr lang="de-DE" sz="1200">
                <a:solidFill>
                  <a:srgbClr val="405786"/>
                </a:solidFill>
              </a:rPr>
              <a:t>Fähigkeits-werte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EFAB975-7544-FB8E-1E76-1F47B4DB4A1E}"/>
              </a:ext>
            </a:extLst>
          </p:cNvPr>
          <p:cNvSpPr/>
          <p:nvPr/>
        </p:nvSpPr>
        <p:spPr>
          <a:xfrm>
            <a:off x="4458697" y="3888327"/>
            <a:ext cx="866143" cy="4561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Item-kennwerte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0A89E02-51E0-1E69-76B2-B5EFA4D16E9D}"/>
              </a:ext>
            </a:extLst>
          </p:cNvPr>
          <p:cNvSpPr/>
          <p:nvPr/>
        </p:nvSpPr>
        <p:spPr>
          <a:xfrm>
            <a:off x="2931072" y="4258006"/>
            <a:ext cx="835184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Aufgaben-UI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B39DAA76-38F0-1AF7-02A1-8357E9AB6455}"/>
              </a:ext>
            </a:extLst>
          </p:cNvPr>
          <p:cNvSpPr/>
          <p:nvPr/>
        </p:nvSpPr>
        <p:spPr>
          <a:xfrm rot="3850881" flipH="1" flipV="1">
            <a:off x="3013385" y="4500352"/>
            <a:ext cx="1822517" cy="194103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8E18734-A6B0-4784-F175-872BFD92F14A}"/>
              </a:ext>
            </a:extLst>
          </p:cNvPr>
          <p:cNvSpPr/>
          <p:nvPr/>
        </p:nvSpPr>
        <p:spPr>
          <a:xfrm>
            <a:off x="3381969" y="4578226"/>
            <a:ext cx="1102995" cy="2871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Kodierschema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42179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IQB-KodierBox</a:t>
            </a: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3773FEF8-5DEB-241E-0E5B-41E0CE987629}"/>
              </a:ext>
            </a:extLst>
          </p:cNvPr>
          <p:cNvSpPr/>
          <p:nvPr/>
        </p:nvSpPr>
        <p:spPr>
          <a:xfrm>
            <a:off x="1627699" y="3228501"/>
            <a:ext cx="3365128" cy="528923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IQB-ContentHub</a:t>
            </a:r>
          </a:p>
        </p:txBody>
      </p:sp>
    </p:spTree>
    <p:extLst>
      <p:ext uri="{BB962C8B-B14F-4D97-AF65-F5344CB8AC3E}">
        <p14:creationId xmlns:p14="http://schemas.microsoft.com/office/powerpoint/2010/main" val="33703560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content-hub2.png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7D2D8F-2509-056B-8CAC-4F65CD4080E2}"/>
              </a:ext>
            </a:extLst>
          </p:cNvPr>
          <p:cNvSpPr/>
          <p:nvPr/>
        </p:nvSpPr>
        <p:spPr>
          <a:xfrm>
            <a:off x="673103" y="2924124"/>
            <a:ext cx="4787898" cy="2439086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DE" sz="1600">
              <a:solidFill>
                <a:srgbClr val="405786"/>
              </a:solidFill>
            </a:endParaRP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0F9CB50D-6CAB-7433-6392-E47CC14FC637}"/>
              </a:ext>
            </a:extLst>
          </p:cNvPr>
          <p:cNvCxnSpPr>
            <a:cxnSpLocks/>
            <a:stCxn id="27" idx="0"/>
            <a:endCxn id="37" idx="2"/>
          </p:cNvCxnSpPr>
          <p:nvPr/>
        </p:nvCxnSpPr>
        <p:spPr>
          <a:xfrm flipH="1" flipV="1">
            <a:off x="3807603" y="2819540"/>
            <a:ext cx="1" cy="770227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6971455E-0E59-66A9-13C7-6EC0E700DC37}"/>
              </a:ext>
            </a:extLst>
          </p:cNvPr>
          <p:cNvSpPr/>
          <p:nvPr/>
        </p:nvSpPr>
        <p:spPr>
          <a:xfrm>
            <a:off x="3348893" y="2525788"/>
            <a:ext cx="917420" cy="2937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eatPrepTBA</a:t>
            </a:r>
            <a:endParaRPr lang="de-DE" sz="1400">
              <a:solidFill>
                <a:srgbClr val="405786"/>
              </a:solidFill>
            </a:endParaRPr>
          </a:p>
        </p:txBody>
      </p: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1A197376-C3FE-BB86-D344-E3BF91183682}"/>
              </a:ext>
            </a:extLst>
          </p:cNvPr>
          <p:cNvCxnSpPr>
            <a:cxnSpLocks/>
            <a:stCxn id="44" idx="0"/>
            <a:endCxn id="28" idx="3"/>
          </p:cNvCxnSpPr>
          <p:nvPr/>
        </p:nvCxnSpPr>
        <p:spPr>
          <a:xfrm flipV="1">
            <a:off x="4771593" y="4352771"/>
            <a:ext cx="0" cy="1261899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E637A302-96ED-7826-494D-88887BBDE1C5}"/>
              </a:ext>
            </a:extLst>
          </p:cNvPr>
          <p:cNvSpPr/>
          <p:nvPr/>
        </p:nvSpPr>
        <p:spPr>
          <a:xfrm>
            <a:off x="4338521" y="5614670"/>
            <a:ext cx="866143" cy="6909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Kodierbox, Testcenter, Studio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5" name="Rechteck: abgerundete Ecken 44">
            <a:extLst>
              <a:ext uri="{FF2B5EF4-FFF2-40B4-BE49-F238E27FC236}">
                <a16:creationId xmlns:a16="http://schemas.microsoft.com/office/drawing/2014/main" id="{21A32612-B86D-A65A-66E1-1FBC8117FB53}"/>
              </a:ext>
            </a:extLst>
          </p:cNvPr>
          <p:cNvSpPr/>
          <p:nvPr/>
        </p:nvSpPr>
        <p:spPr>
          <a:xfrm>
            <a:off x="1563963" y="4754236"/>
            <a:ext cx="1193748" cy="302977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Booklet-Editor</a:t>
            </a:r>
            <a:endParaRPr lang="de-DE" sz="1400"/>
          </a:p>
        </p:txBody>
      </p:sp>
      <p:sp>
        <p:nvSpPr>
          <p:cNvPr id="46" name="Rechteck: abgerundete Ecken 45">
            <a:extLst>
              <a:ext uri="{FF2B5EF4-FFF2-40B4-BE49-F238E27FC236}">
                <a16:creationId xmlns:a16="http://schemas.microsoft.com/office/drawing/2014/main" id="{7DC1F910-59AE-AD5E-9791-7FFB80DBF532}"/>
              </a:ext>
            </a:extLst>
          </p:cNvPr>
          <p:cNvSpPr/>
          <p:nvPr/>
        </p:nvSpPr>
        <p:spPr>
          <a:xfrm>
            <a:off x="1563963" y="4403525"/>
            <a:ext cx="1176563" cy="302977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AP-Editor</a:t>
            </a:r>
            <a:endParaRPr lang="de-DE" sz="1400"/>
          </a:p>
        </p:txBody>
      </p:sp>
      <p:sp>
        <p:nvSpPr>
          <p:cNvPr id="47" name="Rechteck: abgerundete Ecken 46">
            <a:extLst>
              <a:ext uri="{FF2B5EF4-FFF2-40B4-BE49-F238E27FC236}">
                <a16:creationId xmlns:a16="http://schemas.microsoft.com/office/drawing/2014/main" id="{596664A5-4892-9289-BFBE-354B0B2F0BC0}"/>
              </a:ext>
            </a:extLst>
          </p:cNvPr>
          <p:cNvSpPr/>
          <p:nvPr/>
        </p:nvSpPr>
        <p:spPr>
          <a:xfrm>
            <a:off x="3515215" y="4403525"/>
            <a:ext cx="1167661" cy="302977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Item-Explorer</a:t>
            </a:r>
            <a:endParaRPr lang="de-DE" sz="1400"/>
          </a:p>
        </p:txBody>
      </p: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8A6A495B-7CCF-28C4-22BE-4C6E2AF1E8DB}"/>
              </a:ext>
            </a:extLst>
          </p:cNvPr>
          <p:cNvCxnSpPr>
            <a:cxnSpLocks/>
            <a:stCxn id="28" idx="1"/>
            <a:endCxn id="51" idx="2"/>
          </p:cNvCxnSpPr>
          <p:nvPr/>
        </p:nvCxnSpPr>
        <p:spPr>
          <a:xfrm flipV="1">
            <a:off x="4771593" y="2819540"/>
            <a:ext cx="0" cy="590837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9294A9CF-27F9-37F4-0FF8-3C04FAA5328B}"/>
              </a:ext>
            </a:extLst>
          </p:cNvPr>
          <p:cNvSpPr/>
          <p:nvPr/>
        </p:nvSpPr>
        <p:spPr>
          <a:xfrm>
            <a:off x="4338521" y="2525788"/>
            <a:ext cx="866143" cy="2937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Studio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54" name="Rechteck: abgerundete Ecken 53">
            <a:extLst>
              <a:ext uri="{FF2B5EF4-FFF2-40B4-BE49-F238E27FC236}">
                <a16:creationId xmlns:a16="http://schemas.microsoft.com/office/drawing/2014/main" id="{24E4B898-4F8E-7264-6EA6-7F4E96815992}"/>
              </a:ext>
            </a:extLst>
          </p:cNvPr>
          <p:cNvSpPr/>
          <p:nvPr/>
        </p:nvSpPr>
        <p:spPr>
          <a:xfrm>
            <a:off x="3517692" y="4754236"/>
            <a:ext cx="1167661" cy="302977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Unit-Review</a:t>
            </a:r>
            <a:endParaRPr lang="de-DE" sz="1400"/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EB18D02B-1379-4F64-B5ED-0A2795EF24CE}"/>
              </a:ext>
            </a:extLst>
          </p:cNvPr>
          <p:cNvCxnSpPr>
            <a:cxnSpLocks/>
            <a:stCxn id="62" idx="0"/>
            <a:endCxn id="21" idx="3"/>
          </p:cNvCxnSpPr>
          <p:nvPr/>
        </p:nvCxnSpPr>
        <p:spPr>
          <a:xfrm flipV="1">
            <a:off x="2843613" y="4352771"/>
            <a:ext cx="1" cy="1261899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CC41AD77-5AAA-106A-867F-605A09271D45}"/>
              </a:ext>
            </a:extLst>
          </p:cNvPr>
          <p:cNvSpPr/>
          <p:nvPr/>
        </p:nvSpPr>
        <p:spPr>
          <a:xfrm>
            <a:off x="2410541" y="5614670"/>
            <a:ext cx="866143" cy="3733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Testcenter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0" name="Pfeil: nach links 69">
            <a:extLst>
              <a:ext uri="{FF2B5EF4-FFF2-40B4-BE49-F238E27FC236}">
                <a16:creationId xmlns:a16="http://schemas.microsoft.com/office/drawing/2014/main" id="{8B484C5C-6D69-9DC8-4FBC-0515C7CB2177}"/>
              </a:ext>
            </a:extLst>
          </p:cNvPr>
          <p:cNvSpPr/>
          <p:nvPr/>
        </p:nvSpPr>
        <p:spPr>
          <a:xfrm>
            <a:off x="1926195" y="3730100"/>
            <a:ext cx="2512455" cy="317898"/>
          </a:xfrm>
          <a:prstGeom prst="leftArrow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07071733-ACEA-D25D-4C7B-CD1FB7B4B6F5}"/>
              </a:ext>
            </a:extLst>
          </p:cNvPr>
          <p:cNvSpPr/>
          <p:nvPr/>
        </p:nvSpPr>
        <p:spPr>
          <a:xfrm>
            <a:off x="3516161" y="3589767"/>
            <a:ext cx="582885" cy="583615"/>
          </a:xfrm>
          <a:prstGeom prst="roundRect">
            <a:avLst/>
          </a:prstGeom>
          <a:solidFill>
            <a:srgbClr val="40578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Item-kenn-werte</a:t>
            </a:r>
          </a:p>
        </p:txBody>
      </p:sp>
      <p:sp>
        <p:nvSpPr>
          <p:cNvPr id="28" name="Flussdiagramm: Magnetplattenspeicher 27">
            <a:extLst>
              <a:ext uri="{FF2B5EF4-FFF2-40B4-BE49-F238E27FC236}">
                <a16:creationId xmlns:a16="http://schemas.microsoft.com/office/drawing/2014/main" id="{4B77E6B9-BC69-0818-2754-F74A06B8E155}"/>
              </a:ext>
            </a:extLst>
          </p:cNvPr>
          <p:cNvSpPr/>
          <p:nvPr/>
        </p:nvSpPr>
        <p:spPr>
          <a:xfrm>
            <a:off x="4266312" y="3410377"/>
            <a:ext cx="1010561" cy="942394"/>
          </a:xfrm>
          <a:prstGeom prst="flowChartMagneticDisk">
            <a:avLst/>
          </a:prstGeom>
          <a:solidFill>
            <a:srgbClr val="40578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Units</a:t>
            </a:r>
          </a:p>
        </p:txBody>
      </p:sp>
      <p:sp>
        <p:nvSpPr>
          <p:cNvPr id="21" name="Flussdiagramm: Magnetplattenspeicher 20">
            <a:extLst>
              <a:ext uri="{FF2B5EF4-FFF2-40B4-BE49-F238E27FC236}">
                <a16:creationId xmlns:a16="http://schemas.microsoft.com/office/drawing/2014/main" id="{C32C1D49-7C7A-B993-42CA-0EED9CF1F2A4}"/>
              </a:ext>
            </a:extLst>
          </p:cNvPr>
          <p:cNvSpPr/>
          <p:nvPr/>
        </p:nvSpPr>
        <p:spPr>
          <a:xfrm>
            <a:off x="2338333" y="3410377"/>
            <a:ext cx="1010561" cy="942394"/>
          </a:xfrm>
          <a:prstGeom prst="flowChartMagneticDisk">
            <a:avLst/>
          </a:prstGeom>
          <a:solidFill>
            <a:srgbClr val="40578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Studien</a:t>
            </a:r>
          </a:p>
        </p:txBody>
      </p:sp>
      <p:sp>
        <p:nvSpPr>
          <p:cNvPr id="69" name="Flussdiagramm: Magnetplattenspeicher 68">
            <a:extLst>
              <a:ext uri="{FF2B5EF4-FFF2-40B4-BE49-F238E27FC236}">
                <a16:creationId xmlns:a16="http://schemas.microsoft.com/office/drawing/2014/main" id="{DDE9446D-D51E-2904-B43D-185315EA8514}"/>
              </a:ext>
            </a:extLst>
          </p:cNvPr>
          <p:cNvSpPr/>
          <p:nvPr/>
        </p:nvSpPr>
        <p:spPr>
          <a:xfrm>
            <a:off x="915634" y="3408839"/>
            <a:ext cx="1010561" cy="942394"/>
          </a:xfrm>
          <a:prstGeom prst="flowChartMagneticDisk">
            <a:avLst/>
          </a:prstGeom>
          <a:solidFill>
            <a:srgbClr val="40578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Assessment Packages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B0D7C2BE-8198-3335-8B85-FC4C9BA222D0}"/>
              </a:ext>
            </a:extLst>
          </p:cNvPr>
          <p:cNvCxnSpPr>
            <a:cxnSpLocks/>
            <a:endCxn id="69" idx="3"/>
          </p:cNvCxnSpPr>
          <p:nvPr/>
        </p:nvCxnSpPr>
        <p:spPr>
          <a:xfrm flipV="1">
            <a:off x="1420913" y="4351233"/>
            <a:ext cx="2" cy="1267247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CD3FFE20-A974-9AD0-A923-EF18E789FC30}"/>
              </a:ext>
            </a:extLst>
          </p:cNvPr>
          <p:cNvSpPr/>
          <p:nvPr/>
        </p:nvSpPr>
        <p:spPr>
          <a:xfrm>
            <a:off x="987841" y="5614670"/>
            <a:ext cx="866143" cy="3733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Länder</a:t>
            </a:r>
            <a:endParaRPr lang="de-DE" sz="1400">
              <a:solidFill>
                <a:srgbClr val="405786"/>
              </a:solidFill>
            </a:endParaRPr>
          </a:p>
        </p:txBody>
      </p:sp>
      <p:cxnSp>
        <p:nvCxnSpPr>
          <p:cNvPr id="74" name="Gerade Verbindung mit Pfeil 73">
            <a:extLst>
              <a:ext uri="{FF2B5EF4-FFF2-40B4-BE49-F238E27FC236}">
                <a16:creationId xmlns:a16="http://schemas.microsoft.com/office/drawing/2014/main" id="{60D643AA-B387-867F-4232-15BF303F53C3}"/>
              </a:ext>
            </a:extLst>
          </p:cNvPr>
          <p:cNvCxnSpPr>
            <a:cxnSpLocks/>
            <a:stCxn id="21" idx="1"/>
            <a:endCxn id="76" idx="2"/>
          </p:cNvCxnSpPr>
          <p:nvPr/>
        </p:nvCxnSpPr>
        <p:spPr>
          <a:xfrm flipH="1" flipV="1">
            <a:off x="2843613" y="2813963"/>
            <a:ext cx="1" cy="596414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hteck 75">
            <a:extLst>
              <a:ext uri="{FF2B5EF4-FFF2-40B4-BE49-F238E27FC236}">
                <a16:creationId xmlns:a16="http://schemas.microsoft.com/office/drawing/2014/main" id="{BE383267-29A9-9FC8-CE21-694445340630}"/>
              </a:ext>
            </a:extLst>
          </p:cNvPr>
          <p:cNvSpPr/>
          <p:nvPr/>
        </p:nvSpPr>
        <p:spPr>
          <a:xfrm>
            <a:off x="2410541" y="2399938"/>
            <a:ext cx="866143" cy="4140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AP andere Quellen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21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273</Words>
  <Application>Microsoft Office PowerPoint</Application>
  <PresentationFormat>Bildschirmpräsentation (4:3)</PresentationFormat>
  <Paragraphs>162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Consolas</vt:lpstr>
      <vt:lpstr>Office</vt:lpstr>
      <vt:lpstr>iqb-berlin.github.io/ rising-stars</vt:lpstr>
      <vt:lpstr>intro1.png</vt:lpstr>
      <vt:lpstr>intro2.png</vt:lpstr>
      <vt:lpstr>intro3.png</vt:lpstr>
      <vt:lpstr>response-analyser.png</vt:lpstr>
      <vt:lpstr>response-analyser-vera.png</vt:lpstr>
      <vt:lpstr>response-analyser-stars.png</vt:lpstr>
      <vt:lpstr>booklet-structure.png</vt:lpstr>
      <vt:lpstr>content-hub1.png</vt:lpstr>
      <vt:lpstr>content-hub2.png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iqb-berlin.github.io/ rising-stars</dc:title>
  <dc:creator>Martin</dc:creator>
  <cp:lastModifiedBy>Martin Mechtel</cp:lastModifiedBy>
  <cp:revision>42</cp:revision>
  <dcterms:created xsi:type="dcterms:W3CDTF">2025-09-05T05:36:38Z</dcterms:created>
  <dcterms:modified xsi:type="dcterms:W3CDTF">2026-09-24T13:37:30Z</dcterms:modified>
</cp:coreProperties>
</file>