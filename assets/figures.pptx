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63" r:id="rId5"/>
    <p:sldId id="259" r:id="rId6"/>
    <p:sldId id="261" r:id="rId7"/>
    <p:sldId id="262" r:id="rId8"/>
    <p:sldId id="260" r:id="rId9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5786"/>
    <a:srgbClr val="7D12B9"/>
    <a:srgbClr val="7D12BA"/>
    <a:srgbClr val="D92FC1"/>
    <a:srgbClr val="008CBA"/>
    <a:srgbClr val="2E75B6"/>
    <a:srgbClr val="D6DCE5"/>
    <a:srgbClr val="B4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26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921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1326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403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990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2876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8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976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46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98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7102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0063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8E2D6-597E-47D2-87A5-57F74AD9D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486834"/>
            <a:ext cx="5342083" cy="754737"/>
          </a:xfrm>
          <a:solidFill>
            <a:schemeClr val="tx2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>
              <a:defRPr sz="2400">
                <a:latin typeface="Consolas" panose="020B0609020204030204" pitchFamily="49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01990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B6569-5EFF-41A8-B6CB-39864A9A9501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CA66E-2F52-45C2-9912-76CBA2B1C0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9400" y="2509317"/>
            <a:ext cx="6299200" cy="3310912"/>
          </a:xfrm>
        </p:spPr>
        <p:txBody>
          <a:bodyPr>
            <a:noAutofit/>
          </a:bodyPr>
          <a:lstStyle/>
          <a:p>
            <a:r>
              <a:rPr lang="de-DE" sz="4000">
                <a:latin typeface="Consolas" panose="020B0609020204030204" pitchFamily="49" charset="0"/>
              </a:rPr>
              <a:t>iqb-berlin.github.io/</a:t>
            </a:r>
            <a:br>
              <a:rPr lang="de-DE" sz="4000">
                <a:latin typeface="Consolas" panose="020B0609020204030204" pitchFamily="49" charset="0"/>
              </a:rPr>
            </a:br>
            <a:r>
              <a:rPr lang="de-DE" sz="5400">
                <a:solidFill>
                  <a:srgbClr val="B40036"/>
                </a:solidFill>
                <a:latin typeface="Consolas" panose="020B0609020204030204" pitchFamily="49" charset="0"/>
              </a:rPr>
              <a:t>rising-stars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D4529E-7050-4378-B76B-AAD0CCF51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6270170"/>
            <a:ext cx="6299201" cy="899887"/>
          </a:xfrm>
        </p:spPr>
        <p:txBody>
          <a:bodyPr/>
          <a:lstStyle/>
          <a:p>
            <a:r>
              <a:rPr lang="de-DE"/>
              <a:t>Grafische Darstellungen für Quarto-Website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33222F0-B978-446A-ACF0-DC2D72F4E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597" y="445190"/>
            <a:ext cx="1680806" cy="72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14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D01AAD-30D1-4DFB-8F62-36BE63980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intro1.png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2FA06FF-CE17-490A-B4D9-06A09C0BF8D7}"/>
              </a:ext>
            </a:extLst>
          </p:cNvPr>
          <p:cNvSpPr/>
          <p:nvPr/>
        </p:nvSpPr>
        <p:spPr>
          <a:xfrm>
            <a:off x="1400627" y="1718124"/>
            <a:ext cx="1187984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Ziele festlegen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230F1FC-733B-4031-A846-723866F10F8D}"/>
              </a:ext>
            </a:extLst>
          </p:cNvPr>
          <p:cNvSpPr/>
          <p:nvPr/>
        </p:nvSpPr>
        <p:spPr>
          <a:xfrm>
            <a:off x="1024422" y="3105976"/>
            <a:ext cx="1940394" cy="525735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Test durchführen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CFC464E1-9A47-4D9E-9758-C0A1C3141767}"/>
              </a:ext>
            </a:extLst>
          </p:cNvPr>
          <p:cNvGrpSpPr/>
          <p:nvPr/>
        </p:nvGrpSpPr>
        <p:grpSpPr>
          <a:xfrm>
            <a:off x="186294" y="2312165"/>
            <a:ext cx="3616651" cy="318109"/>
            <a:chOff x="5476395" y="2240107"/>
            <a:chExt cx="4384193" cy="385619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EEF6FF71-514C-4676-8656-6710BEB7C531}"/>
                </a:ext>
              </a:extLst>
            </p:cNvPr>
            <p:cNvSpPr/>
            <p:nvPr/>
          </p:nvSpPr>
          <p:spPr>
            <a:xfrm>
              <a:off x="5476395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Testinhalte auswählen</a:t>
              </a:r>
            </a:p>
          </p:txBody>
        </p: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043F2165-136D-4CFB-8F42-7C40B1C40E71}"/>
                </a:ext>
              </a:extLst>
            </p:cNvPr>
            <p:cNvSpPr/>
            <p:nvPr/>
          </p:nvSpPr>
          <p:spPr>
            <a:xfrm>
              <a:off x="7828588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Testpersonen festlegen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C3DFAC6-65F1-4831-842C-FDBEFC655E15}"/>
              </a:ext>
            </a:extLst>
          </p:cNvPr>
          <p:cNvCxnSpPr>
            <a:cxnSpLocks/>
          </p:cNvCxnSpPr>
          <p:nvPr/>
        </p:nvCxnSpPr>
        <p:spPr>
          <a:xfrm flipH="1">
            <a:off x="1345070" y="2036232"/>
            <a:ext cx="327632" cy="27593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954FC19-65D7-4FF6-8000-2C8578F74369}"/>
              </a:ext>
            </a:extLst>
          </p:cNvPr>
          <p:cNvCxnSpPr>
            <a:cxnSpLocks/>
          </p:cNvCxnSpPr>
          <p:nvPr/>
        </p:nvCxnSpPr>
        <p:spPr>
          <a:xfrm>
            <a:off x="2251772" y="2036232"/>
            <a:ext cx="293346" cy="265901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5D73EBC-543B-40E1-A8ED-5E576A912B6E}"/>
              </a:ext>
            </a:extLst>
          </p:cNvPr>
          <p:cNvCxnSpPr>
            <a:cxnSpLocks/>
          </p:cNvCxnSpPr>
          <p:nvPr/>
        </p:nvCxnSpPr>
        <p:spPr>
          <a:xfrm flipH="1">
            <a:off x="2251772" y="2630273"/>
            <a:ext cx="293346" cy="47570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5BB7E91-197A-4D8F-A783-57792062968B}"/>
              </a:ext>
            </a:extLst>
          </p:cNvPr>
          <p:cNvCxnSpPr>
            <a:cxnSpLocks/>
          </p:cNvCxnSpPr>
          <p:nvPr/>
        </p:nvCxnSpPr>
        <p:spPr>
          <a:xfrm>
            <a:off x="1357133" y="2630273"/>
            <a:ext cx="384777" cy="485734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25DECD-0C9A-4379-BAD7-03259A30CD52}"/>
              </a:ext>
            </a:extLst>
          </p:cNvPr>
          <p:cNvSpPr/>
          <p:nvPr/>
        </p:nvSpPr>
        <p:spPr>
          <a:xfrm>
            <a:off x="1156490" y="4091461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Antworten kodieren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F359A76-9ECD-4606-BBC0-D2EDC3A3FF06}"/>
              </a:ext>
            </a:extLst>
          </p:cNvPr>
          <p:cNvSpPr/>
          <p:nvPr/>
        </p:nvSpPr>
        <p:spPr>
          <a:xfrm>
            <a:off x="1156490" y="470145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Daten analysieren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2E870002-6C23-4235-9F19-ACEC1BA0CCFD}"/>
              </a:ext>
            </a:extLst>
          </p:cNvPr>
          <p:cNvSpPr/>
          <p:nvPr/>
        </p:nvSpPr>
        <p:spPr>
          <a:xfrm>
            <a:off x="1156490" y="531144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Ergebnisse berichten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FBE4D5C-043B-40AC-82E0-E06811BCCB84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 flipH="1">
            <a:off x="1994619" y="3631711"/>
            <a:ext cx="1" cy="459750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8E9F793-48FF-4A5B-B432-C274A97E634B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1994619" y="4409569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2E96B1D-AD46-4C04-9138-CB3D76FE463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1994619" y="5019563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D3101B41-FD70-4144-9F1D-076707FAE58E}"/>
              </a:ext>
            </a:extLst>
          </p:cNvPr>
          <p:cNvGrpSpPr/>
          <p:nvPr/>
        </p:nvGrpSpPr>
        <p:grpSpPr>
          <a:xfrm>
            <a:off x="4357836" y="2438401"/>
            <a:ext cx="2266758" cy="3290805"/>
            <a:chOff x="357336" y="2428876"/>
            <a:chExt cx="2266758" cy="3290805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0A7B701-6983-4CD7-8BF2-096C296B8C62}"/>
                </a:ext>
              </a:extLst>
            </p:cNvPr>
            <p:cNvSpPr/>
            <p:nvPr/>
          </p:nvSpPr>
          <p:spPr>
            <a:xfrm>
              <a:off x="357336" y="2428876"/>
              <a:ext cx="2266758" cy="3290805"/>
            </a:xfrm>
            <a:prstGeom prst="rect">
              <a:avLst/>
            </a:prstGeom>
            <a:solidFill>
              <a:srgbClr val="D6DC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de-DE" sz="1600" b="1">
                  <a:solidFill>
                    <a:srgbClr val="405786"/>
                  </a:solidFill>
                </a:rPr>
                <a:t>Assessment Content Package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3333A75C-F528-4E98-B21A-2ED7E6180BAE}"/>
                </a:ext>
              </a:extLst>
            </p:cNvPr>
            <p:cNvSpPr/>
            <p:nvPr/>
          </p:nvSpPr>
          <p:spPr>
            <a:xfrm>
              <a:off x="471488" y="3214225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Aufgaben, Testhefte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6BBB1F6F-854F-4A13-9BD2-320FBDBAC954}"/>
                </a:ext>
              </a:extLst>
            </p:cNvPr>
            <p:cNvSpPr/>
            <p:nvPr/>
          </p:nvSpPr>
          <p:spPr>
            <a:xfrm>
              <a:off x="471488" y="4095897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Kodiervorschriften</a:t>
              </a:r>
              <a:endParaRPr lang="de-DE" sz="1600">
                <a:solidFill>
                  <a:srgbClr val="405786"/>
                </a:solidFill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0045C2F8-8393-4068-905F-BC71083EC3F9}"/>
                </a:ext>
              </a:extLst>
            </p:cNvPr>
            <p:cNvSpPr/>
            <p:nvPr/>
          </p:nvSpPr>
          <p:spPr>
            <a:xfrm>
              <a:off x="471488" y="4705890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Skalen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56EA558-E1C2-47E1-AEF8-7813D473A629}"/>
                </a:ext>
              </a:extLst>
            </p:cNvPr>
            <p:cNvSpPr/>
            <p:nvPr/>
          </p:nvSpPr>
          <p:spPr>
            <a:xfrm>
              <a:off x="471488" y="5311268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Material, Textbausteine</a:t>
              </a:r>
            </a:p>
          </p:txBody>
        </p:sp>
      </p:grp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02E079B6-BCEB-43F1-B283-6F15D72C8FBE}"/>
              </a:ext>
            </a:extLst>
          </p:cNvPr>
          <p:cNvCxnSpPr>
            <a:cxnSpLocks/>
          </p:cNvCxnSpPr>
          <p:nvPr/>
        </p:nvCxnSpPr>
        <p:spPr>
          <a:xfrm>
            <a:off x="3315475" y="3371996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4E89F041-1D7F-40BA-B6C5-52550DDBA935}"/>
              </a:ext>
            </a:extLst>
          </p:cNvPr>
          <p:cNvCxnSpPr>
            <a:cxnSpLocks/>
          </p:cNvCxnSpPr>
          <p:nvPr/>
        </p:nvCxnSpPr>
        <p:spPr>
          <a:xfrm>
            <a:off x="3315475" y="4252030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E56383E-D8F3-491A-B496-6ECBF3C4CBEB}"/>
              </a:ext>
            </a:extLst>
          </p:cNvPr>
          <p:cNvCxnSpPr>
            <a:cxnSpLocks/>
          </p:cNvCxnSpPr>
          <p:nvPr/>
        </p:nvCxnSpPr>
        <p:spPr>
          <a:xfrm>
            <a:off x="3315475" y="4865388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5E9054F2-F452-4AC2-A247-39A9A2801713}"/>
              </a:ext>
            </a:extLst>
          </p:cNvPr>
          <p:cNvCxnSpPr>
            <a:cxnSpLocks/>
          </p:cNvCxnSpPr>
          <p:nvPr/>
        </p:nvCxnSpPr>
        <p:spPr>
          <a:xfrm>
            <a:off x="3315475" y="5478746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079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intro2.png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Dashboard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2" y="2185932"/>
            <a:ext cx="958211" cy="223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Inhaltspaket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IQB-ContentPool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Schulverwaltungssystem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IQB-ResponseAnalyser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Management-Portal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253878" y="4323322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4177106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intro3.png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Bericht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3" y="2185932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Units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IQB-Studio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b="1">
                  <a:solidFill>
                    <a:schemeClr val="tx1"/>
                  </a:solidFill>
                </a:rPr>
                <a:t>Excel-Dateien, XML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tx1"/>
                </a:solidFill>
              </a:rPr>
              <a:t>Manuelles Daten-management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082648" y="4564268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3027367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547B6DB2-0CC1-4E3F-A59F-14514FC55285}"/>
              </a:ext>
            </a:extLst>
          </p:cNvPr>
          <p:cNvSpPr/>
          <p:nvPr/>
        </p:nvSpPr>
        <p:spPr>
          <a:xfrm rot="5400000">
            <a:off x="3279685" y="5262563"/>
            <a:ext cx="581025" cy="161925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0ABCF2EB-9A46-4668-A3A9-1559701052A2}"/>
              </a:ext>
            </a:extLst>
          </p:cNvPr>
          <p:cNvSpPr/>
          <p:nvPr/>
        </p:nvSpPr>
        <p:spPr>
          <a:xfrm>
            <a:off x="3355659" y="4351076"/>
            <a:ext cx="125686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450DD977-C9E8-4005-AE12-72EF5716B9CB}"/>
              </a:ext>
            </a:extLst>
          </p:cNvPr>
          <p:cNvSpPr/>
          <p:nvPr/>
        </p:nvSpPr>
        <p:spPr>
          <a:xfrm>
            <a:off x="3293745" y="3271600"/>
            <a:ext cx="131877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response-analyser.png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9F9BAA5E-6368-402F-A075-A399214FBCD8}"/>
              </a:ext>
            </a:extLst>
          </p:cNvPr>
          <p:cNvSpPr/>
          <p:nvPr/>
        </p:nvSpPr>
        <p:spPr>
          <a:xfrm rot="5400000">
            <a:off x="2944315" y="2249102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865482" y="2138628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 (Variablen)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E68CA616-A0ED-4681-BB13-5AC00C9707F9}"/>
              </a:ext>
            </a:extLst>
          </p:cNvPr>
          <p:cNvSpPr/>
          <p:nvPr/>
        </p:nvSpPr>
        <p:spPr>
          <a:xfrm rot="5400000">
            <a:off x="2944315" y="3330861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A54E5-572E-4CCE-A5EF-D17BB6BA5FFC}"/>
              </a:ext>
            </a:extLst>
          </p:cNvPr>
          <p:cNvSpPr/>
          <p:nvPr/>
        </p:nvSpPr>
        <p:spPr>
          <a:xfrm>
            <a:off x="2865482" y="3208925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483556" y="2807582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Autocoder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F5B0DB56-B8B8-4F09-B779-DBDCC2B8FBB8}"/>
              </a:ext>
            </a:extLst>
          </p:cNvPr>
          <p:cNvSpPr/>
          <p:nvPr/>
        </p:nvSpPr>
        <p:spPr>
          <a:xfrm>
            <a:off x="1558749" y="3881358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952B01B7-7CA7-4859-911C-8ED90D36D649}"/>
              </a:ext>
            </a:extLst>
          </p:cNvPr>
          <p:cNvSpPr/>
          <p:nvPr/>
        </p:nvSpPr>
        <p:spPr>
          <a:xfrm rot="5400000">
            <a:off x="2944314" y="4390458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BF43FF3-FD4D-4671-BBE2-2F5FFF6683B1}"/>
              </a:ext>
            </a:extLst>
          </p:cNvPr>
          <p:cNvSpPr/>
          <p:nvPr/>
        </p:nvSpPr>
        <p:spPr>
          <a:xfrm>
            <a:off x="2865481" y="4268522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483556" y="388135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Itemwerte ableiten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863A3B5F-DF6D-42E3-B140-36287F671703}"/>
              </a:ext>
            </a:extLst>
          </p:cNvPr>
          <p:cNvSpPr/>
          <p:nvPr/>
        </p:nvSpPr>
        <p:spPr>
          <a:xfrm>
            <a:off x="1558749" y="4926776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E4BD864-25C8-4FB2-8119-D940D979F705}"/>
              </a:ext>
            </a:extLst>
          </p:cNvPr>
          <p:cNvSpPr/>
          <p:nvPr/>
        </p:nvSpPr>
        <p:spPr>
          <a:xfrm>
            <a:off x="2483556" y="492677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Skalenwerte ableiten</a:t>
            </a: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B7BEFAAF-3039-4C25-8A91-9764F8C2F4EC}"/>
              </a:ext>
            </a:extLst>
          </p:cNvPr>
          <p:cNvSpPr/>
          <p:nvPr/>
        </p:nvSpPr>
        <p:spPr>
          <a:xfrm>
            <a:off x="1558749" y="2815339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23EEC-9FC4-4437-8575-93036B4F18E1}"/>
              </a:ext>
            </a:extLst>
          </p:cNvPr>
          <p:cNvSpPr/>
          <p:nvPr/>
        </p:nvSpPr>
        <p:spPr>
          <a:xfrm>
            <a:off x="650959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>
                <a:solidFill>
                  <a:srgbClr val="405786"/>
                </a:solidFill>
              </a:rPr>
              <a:t>Assessment Content Package</a:t>
            </a: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9160057-E182-4527-98B7-B0410D6C4443}"/>
              </a:ext>
            </a:extLst>
          </p:cNvPr>
          <p:cNvSpPr/>
          <p:nvPr/>
        </p:nvSpPr>
        <p:spPr>
          <a:xfrm>
            <a:off x="1376220" y="3819417"/>
            <a:ext cx="749160" cy="399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Item-Liste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5D6F1E-C581-4B54-9809-284B7E13817C}"/>
              </a:ext>
            </a:extLst>
          </p:cNvPr>
          <p:cNvSpPr/>
          <p:nvPr/>
        </p:nvSpPr>
        <p:spPr>
          <a:xfrm>
            <a:off x="1349198" y="4941205"/>
            <a:ext cx="808852" cy="282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0B08DA1-F980-4E18-B4CC-577C8A1BE929}"/>
              </a:ext>
            </a:extLst>
          </p:cNvPr>
          <p:cNvSpPr/>
          <p:nvPr/>
        </p:nvSpPr>
        <p:spPr>
          <a:xfrm>
            <a:off x="1349198" y="2745011"/>
            <a:ext cx="80885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Kodier-Schema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5CD6CED-F4A9-4957-9DE7-BC2BF51D10A3}"/>
              </a:ext>
            </a:extLst>
          </p:cNvPr>
          <p:cNvSpPr/>
          <p:nvPr/>
        </p:nvSpPr>
        <p:spPr>
          <a:xfrm>
            <a:off x="4630015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600">
                <a:solidFill>
                  <a:srgbClr val="405786"/>
                </a:solidFill>
              </a:rPr>
              <a:t>Speichern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Rückmeldung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Dashboard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730BF83F-2D33-486E-AFF3-E44D1A0F53B8}"/>
              </a:ext>
            </a:extLst>
          </p:cNvPr>
          <p:cNvSpPr/>
          <p:nvPr/>
        </p:nvSpPr>
        <p:spPr>
          <a:xfrm>
            <a:off x="3480631" y="5398381"/>
            <a:ext cx="113188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C898965-3275-4C70-80C3-A487C8B568E7}"/>
              </a:ext>
            </a:extLst>
          </p:cNvPr>
          <p:cNvSpPr/>
          <p:nvPr/>
        </p:nvSpPr>
        <p:spPr>
          <a:xfrm>
            <a:off x="3091261" y="5315827"/>
            <a:ext cx="129433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6" name="Pfeil: nach rechts 35">
            <a:extLst>
              <a:ext uri="{FF2B5EF4-FFF2-40B4-BE49-F238E27FC236}">
                <a16:creationId xmlns:a16="http://schemas.microsoft.com/office/drawing/2014/main" id="{528C509C-B024-46F8-A594-7AAA73B99246}"/>
              </a:ext>
            </a:extLst>
          </p:cNvPr>
          <p:cNvSpPr/>
          <p:nvPr/>
        </p:nvSpPr>
        <p:spPr>
          <a:xfrm rot="16200000">
            <a:off x="2439140" y="5534319"/>
            <a:ext cx="87319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76FEC2-3FB2-4376-9EF4-EEA7811E1208}"/>
              </a:ext>
            </a:extLst>
          </p:cNvPr>
          <p:cNvSpPr/>
          <p:nvPr/>
        </p:nvSpPr>
        <p:spPr>
          <a:xfrm>
            <a:off x="2418787" y="5705344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Zusatz-items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705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40485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75279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response-analyser-vera.png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84462" y="2938048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84462" y="3776488"/>
            <a:ext cx="1934114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355854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61457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9FEF30-B504-4280-9D45-C365E076D20C}"/>
              </a:ext>
            </a:extLst>
          </p:cNvPr>
          <p:cNvSpPr/>
          <p:nvPr/>
        </p:nvSpPr>
        <p:spPr>
          <a:xfrm>
            <a:off x="4124904" y="4078823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Manuelle Kodierung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2" name="Pfeil: nach links und rechts 41">
            <a:extLst>
              <a:ext uri="{FF2B5EF4-FFF2-40B4-BE49-F238E27FC236}">
                <a16:creationId xmlns:a16="http://schemas.microsoft.com/office/drawing/2014/main" id="{DB134E8A-B06F-4954-956A-97E7E41D151E}"/>
              </a:ext>
            </a:extLst>
          </p:cNvPr>
          <p:cNvSpPr/>
          <p:nvPr/>
        </p:nvSpPr>
        <p:spPr>
          <a:xfrm rot="10800000">
            <a:off x="2586772" y="4078823"/>
            <a:ext cx="1356617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77427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42460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530542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0F39A-DEE5-417F-91DF-57AC6B95C10E}"/>
              </a:ext>
            </a:extLst>
          </p:cNvPr>
          <p:cNvSpPr/>
          <p:nvPr/>
        </p:nvSpPr>
        <p:spPr>
          <a:xfrm>
            <a:off x="4124904" y="44137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in eigene Skalen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37997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82206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84462" y="2128711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Assessment Content Pool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Content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01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24483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92805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response-analyser-stars.png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65608" y="2938048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65608" y="3776488"/>
            <a:ext cx="1952967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2983101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82031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94953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26458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472630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25043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2429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65608" y="2128711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Assessment Content Pool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Content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8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5118E-31D4-4331-9C25-00970184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booklet-structure.png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E558467-B3F4-4A05-828A-3DD593F7168D}"/>
              </a:ext>
            </a:extLst>
          </p:cNvPr>
          <p:cNvSpPr/>
          <p:nvPr/>
        </p:nvSpPr>
        <p:spPr>
          <a:xfrm>
            <a:off x="650959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3D1E40-06BD-4A0F-92D8-C2261B665773}"/>
              </a:ext>
            </a:extLst>
          </p:cNvPr>
          <p:cNvSpPr/>
          <p:nvPr/>
        </p:nvSpPr>
        <p:spPr>
          <a:xfrm>
            <a:off x="781843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8DA2B19-A799-499D-9544-537F1372B927}"/>
              </a:ext>
            </a:extLst>
          </p:cNvPr>
          <p:cNvSpPr/>
          <p:nvPr/>
        </p:nvSpPr>
        <p:spPr>
          <a:xfrm>
            <a:off x="781843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2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F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485D1C-EC3D-4C7C-8EDE-133F11ED8FF4}"/>
              </a:ext>
            </a:extLst>
          </p:cNvPr>
          <p:cNvSpPr/>
          <p:nvPr/>
        </p:nvSpPr>
        <p:spPr>
          <a:xfrm>
            <a:off x="4047897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2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F4EF8D-0812-476F-9662-390793A58462}"/>
              </a:ext>
            </a:extLst>
          </p:cNvPr>
          <p:cNvSpPr/>
          <p:nvPr/>
        </p:nvSpPr>
        <p:spPr>
          <a:xfrm>
            <a:off x="4178781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393D6E7-539A-4437-9A43-0DFB51EBC4A3}"/>
              </a:ext>
            </a:extLst>
          </p:cNvPr>
          <p:cNvSpPr/>
          <p:nvPr/>
        </p:nvSpPr>
        <p:spPr>
          <a:xfrm>
            <a:off x="4178781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3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G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B0677E0-1E08-425A-B3AB-6ED4E6D704E7}"/>
              </a:ext>
            </a:extLst>
          </p:cNvPr>
          <p:cNvSpPr/>
          <p:nvPr/>
        </p:nvSpPr>
        <p:spPr>
          <a:xfrm>
            <a:off x="2349428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>
                <a:solidFill>
                  <a:srgbClr val="405786"/>
                </a:solidFill>
              </a:rPr>
              <a:t>Items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C1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E1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F1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G1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H2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2D2D9AE-8439-4737-8314-DAAC6038DCE5}"/>
              </a:ext>
            </a:extLst>
          </p:cNvPr>
          <p:cNvCxnSpPr>
            <a:cxnSpLocks/>
          </p:cNvCxnSpPr>
          <p:nvPr/>
        </p:nvCxnSpPr>
        <p:spPr>
          <a:xfrm flipV="1">
            <a:off x="1811494" y="3033166"/>
            <a:ext cx="1100092" cy="58779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F5B54DDE-64D6-48FC-AA0C-8AC6EC280DB2}"/>
              </a:ext>
            </a:extLst>
          </p:cNvPr>
          <p:cNvCxnSpPr>
            <a:cxnSpLocks/>
          </p:cNvCxnSpPr>
          <p:nvPr/>
        </p:nvCxnSpPr>
        <p:spPr>
          <a:xfrm flipV="1">
            <a:off x="1811494" y="3275280"/>
            <a:ext cx="1100092" cy="338909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7676A310-B9D1-4130-8172-6409612596A7}"/>
              </a:ext>
            </a:extLst>
          </p:cNvPr>
          <p:cNvCxnSpPr>
            <a:cxnSpLocks/>
          </p:cNvCxnSpPr>
          <p:nvPr/>
        </p:nvCxnSpPr>
        <p:spPr>
          <a:xfrm flipV="1">
            <a:off x="1805940" y="3521922"/>
            <a:ext cx="1105646" cy="34205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0D4501E8-A547-407F-A316-96E18564B4D9}"/>
              </a:ext>
            </a:extLst>
          </p:cNvPr>
          <p:cNvCxnSpPr>
            <a:cxnSpLocks/>
          </p:cNvCxnSpPr>
          <p:nvPr/>
        </p:nvCxnSpPr>
        <p:spPr>
          <a:xfrm flipV="1">
            <a:off x="1811494" y="4737606"/>
            <a:ext cx="1100092" cy="5124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907D990-9745-423D-A714-FC6614CA62B2}"/>
              </a:ext>
            </a:extLst>
          </p:cNvPr>
          <p:cNvCxnSpPr>
            <a:cxnSpLocks/>
          </p:cNvCxnSpPr>
          <p:nvPr/>
        </p:nvCxnSpPr>
        <p:spPr>
          <a:xfrm flipV="1">
            <a:off x="1801099" y="3761391"/>
            <a:ext cx="1110487" cy="10258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B1B72B2-BD02-4589-B507-6AFC98E233DB}"/>
              </a:ext>
            </a:extLst>
          </p:cNvPr>
          <p:cNvCxnSpPr>
            <a:cxnSpLocks/>
          </p:cNvCxnSpPr>
          <p:nvPr/>
        </p:nvCxnSpPr>
        <p:spPr>
          <a:xfrm flipV="1">
            <a:off x="1811494" y="4006719"/>
            <a:ext cx="1100092" cy="90022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A077487-7D9A-4C38-B805-7E31F859DFC9}"/>
              </a:ext>
            </a:extLst>
          </p:cNvPr>
          <p:cNvCxnSpPr>
            <a:cxnSpLocks/>
          </p:cNvCxnSpPr>
          <p:nvPr/>
        </p:nvCxnSpPr>
        <p:spPr>
          <a:xfrm flipV="1">
            <a:off x="1801099" y="4239484"/>
            <a:ext cx="1110487" cy="76257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EB0279D-8E8D-4988-8297-D998AA874313}"/>
              </a:ext>
            </a:extLst>
          </p:cNvPr>
          <p:cNvCxnSpPr>
            <a:cxnSpLocks/>
          </p:cNvCxnSpPr>
          <p:nvPr/>
        </p:nvCxnSpPr>
        <p:spPr>
          <a:xfrm flipV="1">
            <a:off x="1796539" y="4504335"/>
            <a:ext cx="1115047" cy="49772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108F28-E346-409E-819D-E7C8BC5163B2}"/>
              </a:ext>
            </a:extLst>
          </p:cNvPr>
          <p:cNvCxnSpPr>
            <a:cxnSpLocks/>
          </p:cNvCxnSpPr>
          <p:nvPr/>
        </p:nvCxnSpPr>
        <p:spPr>
          <a:xfrm flipV="1">
            <a:off x="1805940" y="4987579"/>
            <a:ext cx="1101087" cy="46739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E68EBDF-3F0E-4840-B20F-8D94C18DFF61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3023530"/>
            <a:ext cx="1181082" cy="58896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1F2EB59A-7A07-4FB7-9F1C-C614E926D90A}"/>
              </a:ext>
            </a:extLst>
          </p:cNvPr>
          <p:cNvCxnSpPr>
            <a:cxnSpLocks/>
          </p:cNvCxnSpPr>
          <p:nvPr/>
        </p:nvCxnSpPr>
        <p:spPr>
          <a:xfrm flipH="1" flipV="1">
            <a:off x="3298092" y="3267668"/>
            <a:ext cx="1181080" cy="34652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C95D828-90F6-4E54-BCA9-CC499045CA14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3755071"/>
            <a:ext cx="1167965" cy="114388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522A01-8017-4B74-8A83-E902ABB1745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234786"/>
            <a:ext cx="1167965" cy="767274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72C0FD4-B873-4F4F-9B16-CC59CB990DCC}"/>
              </a:ext>
            </a:extLst>
          </p:cNvPr>
          <p:cNvCxnSpPr>
            <a:cxnSpLocks/>
          </p:cNvCxnSpPr>
          <p:nvPr/>
        </p:nvCxnSpPr>
        <p:spPr>
          <a:xfrm flipH="1" flipV="1">
            <a:off x="3298091" y="3509842"/>
            <a:ext cx="1172527" cy="36790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4A6EA9C-3E5E-4A85-A57C-DDFF20B2DE1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3996155"/>
            <a:ext cx="1176520" cy="1005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11BB2140-0D68-4A55-BEC3-FBBDC76B3FC0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5215758"/>
            <a:ext cx="1213585" cy="2295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F0D5928D-7D1B-4A45-8188-41A8AAB2DBEA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5450709"/>
            <a:ext cx="1209024" cy="6553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E0F9FB7-847B-4C98-BB72-02A2DA9F1407}"/>
              </a:ext>
            </a:extLst>
          </p:cNvPr>
          <p:cNvCxnSpPr>
            <a:cxnSpLocks/>
          </p:cNvCxnSpPr>
          <p:nvPr/>
        </p:nvCxnSpPr>
        <p:spPr>
          <a:xfrm flipH="1">
            <a:off x="3302652" y="5510690"/>
            <a:ext cx="1209023" cy="17656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9B7043D-7BF0-413E-AA4E-1BB4DAD71BE6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503550"/>
            <a:ext cx="1176519" cy="49851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731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225</Words>
  <Application>Microsoft Office PowerPoint</Application>
  <PresentationFormat>Bildschirmpräsentation (4:3)</PresentationFormat>
  <Paragraphs>128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Consolas</vt:lpstr>
      <vt:lpstr>Office</vt:lpstr>
      <vt:lpstr>iqb-berlin.github.io/ rising-stars</vt:lpstr>
      <vt:lpstr>intro1.png</vt:lpstr>
      <vt:lpstr>intro2.png</vt:lpstr>
      <vt:lpstr>intro3.png</vt:lpstr>
      <vt:lpstr>response-analyser.png</vt:lpstr>
      <vt:lpstr>response-analyser-vera.png</vt:lpstr>
      <vt:lpstr>response-analyser-stars.png</vt:lpstr>
      <vt:lpstr>booklet-structure.png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iqb-berlin.github.io/ rising-stars</dc:title>
  <dc:creator>Martin</dc:creator>
  <cp:lastModifiedBy>Martin</cp:lastModifiedBy>
  <cp:revision>35</cp:revision>
  <dcterms:created xsi:type="dcterms:W3CDTF">2025-09-05T05:36:38Z</dcterms:created>
  <dcterms:modified xsi:type="dcterms:W3CDTF">2026-01-24T18:45:55Z</dcterms:modified>
</cp:coreProperties>
</file>